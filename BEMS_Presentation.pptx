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502920" y="640080"/>
            <a:ext cx="502920" cy="50292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71323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6C4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BEMS · Operations Console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 Building Energy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Anomaly Detection &amp; Response System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C4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6-stage agent pipeline · multi-zone telemetry · ML recovery · rule-engine diagnostics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4754880"/>
            <a:ext cx="4572000" cy="1463040"/>
          </a:xfrm>
          <a:prstGeom prst="rect">
            <a:avLst/>
          </a:prstGeom>
          <a:solidFill>
            <a:srgbClr val="1A2A5E"/>
          </a:solidFill>
          <a:ln w="12700">
            <a:solidFill>
              <a:srgbClr val="1F5D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8920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6C4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ICT Module 4 · Intermediate Project
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김성현  · 2021271250
</a:t>
            </a:r>
            <a:pPr indent="0" marL="0">
              <a:buNone/>
            </a:pPr>
            <a:r>
              <a:rPr lang="en-US" sz="1200" dirty="0">
                <a:solidFill>
                  <a:srgbClr val="B6C4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Individual Project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4937760"/>
            <a:ext cx="1481328" cy="365760"/>
          </a:xfrm>
          <a:prstGeom prst="rect">
            <a:avLst/>
          </a:prstGeom>
          <a:solidFill>
            <a:srgbClr val="1A2A5E"/>
          </a:solidFill>
          <a:ln w="9525">
            <a:solidFill>
              <a:srgbClr val="1F5D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49377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3.11+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91856" y="4937760"/>
            <a:ext cx="978408" cy="365760"/>
          </a:xfrm>
          <a:prstGeom prst="rect">
            <a:avLst/>
          </a:prstGeom>
          <a:solidFill>
            <a:srgbClr val="1A2A5E"/>
          </a:solidFill>
          <a:ln w="9525">
            <a:solidFill>
              <a:srgbClr val="1F5D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91856" y="493776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79992" y="4937760"/>
            <a:ext cx="877824" cy="365760"/>
          </a:xfrm>
          <a:prstGeom prst="rect">
            <a:avLst/>
          </a:prstGeom>
          <a:solidFill>
            <a:srgbClr val="1A2A5E"/>
          </a:solidFill>
          <a:ln w="9525">
            <a:solidFill>
              <a:srgbClr val="1F5D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9992" y="493776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SQLite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67544" y="4937760"/>
            <a:ext cx="1481328" cy="365760"/>
          </a:xfrm>
          <a:prstGeom prst="rect">
            <a:avLst/>
          </a:prstGeom>
          <a:solidFill>
            <a:srgbClr val="1A2A5E"/>
          </a:solidFill>
          <a:ln w="9525">
            <a:solidFill>
              <a:srgbClr val="1F5D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67544" y="49377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5440680"/>
            <a:ext cx="1179576" cy="365760"/>
          </a:xfrm>
          <a:prstGeom prst="rect">
            <a:avLst/>
          </a:prstGeom>
          <a:solidFill>
            <a:srgbClr val="1A2A5E"/>
          </a:solidFill>
          <a:ln w="9525">
            <a:solidFill>
              <a:srgbClr val="1F5D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440680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90104" y="5440680"/>
            <a:ext cx="877824" cy="365760"/>
          </a:xfrm>
          <a:prstGeom prst="rect">
            <a:avLst/>
          </a:prstGeom>
          <a:solidFill>
            <a:srgbClr val="1A2A5E"/>
          </a:solidFill>
          <a:ln w="9525">
            <a:solidFill>
              <a:srgbClr val="1F5D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0104" y="544068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Plotly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77656" y="5440680"/>
            <a:ext cx="877824" cy="365760"/>
          </a:xfrm>
          <a:prstGeom prst="rect">
            <a:avLst/>
          </a:prstGeom>
          <a:solidFill>
            <a:srgbClr val="1A2A5E"/>
          </a:solidFill>
          <a:ln w="9525">
            <a:solidFill>
              <a:srgbClr val="1F5D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77656" y="544068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Pytest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· Spring Semester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순서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발표는 시스템의 동작 원리와 각 컴포넌트의 기능을 차례로 살펴봅니다.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4884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14884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1488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2728" y="22219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52728" y="24780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정의와 해결 접근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92608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9260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52728" y="29992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아키텍처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52728" y="3255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6단계 에이전트 파이프라인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70332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70332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703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52728" y="37764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52728" y="40325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라이브러리와 코드 통계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48056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48056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480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52728" y="45537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Stage 1·2  데이터 생성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52728" y="48097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Generator + Transmitter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525780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25780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5257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52728" y="5330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Stage 3  Collector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52728" y="55869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+ SQLite 허브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214884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214884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21488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3448" y="22219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Stage 4  ML Processor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13448" y="24780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보간 + 3-detector 앙상블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292608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63640" y="292608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29260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13448" y="29992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Stage 5  Decision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13448" y="3255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결정론적 룰 엔진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640" y="370332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63640" y="370332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3703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13448" y="37764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Stage 6  Dashboard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13448" y="40325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엔터프라이즈 운영 콘솔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63640" y="448056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63640" y="448056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28232" y="4480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013448" y="45537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정리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013448" y="48097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시스템으로 할 수 있는 일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63640" y="525780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63640" y="525780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28232" y="5257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013448" y="5330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+ 향후 과제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013448" y="55869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성과와 다음 단계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BEMS Anomaly Operations Center · ICT Module 4 · 김성현 2021271250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빌딩 에너지 이상 탐지 시스템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문제를 풀어야 하고, 어떻게 풀었는가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53949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103120"/>
            <a:ext cx="73152" cy="4023360"/>
          </a:xfrm>
          <a:prstGeom prst="rect">
            <a:avLst/>
          </a:prstGeom>
          <a:solidFill>
            <a:srgbClr val="A127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(Problem)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빌딩의 IoT 센서 네트워크는 무선 간섭, 층간 신호 감쇠, 네트워크 혼잡에 시달립니다.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27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383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패킷 손실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6027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 중 데이터가 사라져 분석에 공백이 생긴다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9502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27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9502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변동 지연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41696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WiFi 혼잡으로 0.5–3초 사이의 불규칙한 지연이 발생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51713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27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5171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노이즈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4736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 간섭으로 측정값에 가우시안 잡음이 섞임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508406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27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50840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 상황 누락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53035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운영자가 알아채기 전에 화재, HVAC 고장 등이 진행됨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103120"/>
            <a:ext cx="53949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2103120"/>
            <a:ext cx="73152" cy="4023360"/>
          </a:xfrm>
          <a:prstGeom prst="rect">
            <a:avLst/>
          </a:prstGeom>
          <a:solidFill>
            <a:srgbClr val="1F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(Solution)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7960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6단계 에이전트 파이프라인 — 실제 네트워크 열화를 의도적으로 주입하고, ML로 복구하고, 룰 엔진으로 진단합니다.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3383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3383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36027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 보간으로 손실 시퀀스를 채워 단절 없는 시계열 확보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39502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39502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03720" y="41696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Z-score · 하드 임계 · IsolationForest 3-detector 앙상블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451713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45171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03720" y="4736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발생 패턴을 9개 룰과 매칭하여 근본 원인 추정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37960" y="508406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03720" y="50840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03720" y="53035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Streamlit 콘솔 — 6탭 운영 화면과 시나리오 주입 기능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BEMS Anomaly Operations Center · ICT Module 4 · 김성현 2021271250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6단계 에이전트 파이프라인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단계는 독립된 프로세스이며, REST API로만 통신합니다.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33172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331720"/>
            <a:ext cx="1691640" cy="109728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963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319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시뮬레이션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2048256" y="2926080"/>
            <a:ext cx="201168" cy="182880"/>
          </a:xfrm>
          <a:prstGeom prst="rtTriangle">
            <a:avLst/>
          </a:prstGeom>
          <a:solidFill>
            <a:srgbClr val="4252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233172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0" y="2331720"/>
            <a:ext cx="1691640" cy="109728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24963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28600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Transmitter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3319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열화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4014216" y="2926080"/>
            <a:ext cx="201168" cy="182880"/>
          </a:xfrm>
          <a:prstGeom prst="rtTriangle">
            <a:avLst/>
          </a:prstGeom>
          <a:solidFill>
            <a:srgbClr val="4252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233172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2331720"/>
            <a:ext cx="1691640" cy="109728"/>
          </a:xfrm>
          <a:prstGeom prst="rect">
            <a:avLst/>
          </a:prstGeom>
          <a:solidFill>
            <a:srgbClr val="6A4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4963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A4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25196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Collector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51960" y="3319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허브 + DB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5980176" y="2926080"/>
            <a:ext cx="201168" cy="182880"/>
          </a:xfrm>
          <a:prstGeom prst="rtTriangle">
            <a:avLst/>
          </a:prstGeom>
          <a:solidFill>
            <a:srgbClr val="4252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233172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331720"/>
            <a:ext cx="1691640" cy="109728"/>
          </a:xfrm>
          <a:prstGeom prst="rect">
            <a:avLst/>
          </a:prstGeom>
          <a:solidFill>
            <a:srgbClr val="6A4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4963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A4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21792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 Processor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3319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보간 + 이상 탐지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rot="5400000">
            <a:off x="7946136" y="2926080"/>
            <a:ext cx="201168" cy="182880"/>
          </a:xfrm>
          <a:prstGeom prst="rtTriangle">
            <a:avLst/>
          </a:prstGeom>
          <a:solidFill>
            <a:srgbClr val="4252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233172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83880" y="2331720"/>
            <a:ext cx="1691640" cy="109728"/>
          </a:xfrm>
          <a:prstGeom prst="rect">
            <a:avLst/>
          </a:prstGeom>
          <a:solidFill>
            <a:srgbClr val="1F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24963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18388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83880" y="3319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룰 엔진 진단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rot="5400000">
            <a:off x="9912096" y="2926080"/>
            <a:ext cx="201168" cy="182880"/>
          </a:xfrm>
          <a:prstGeom prst="rtTriangle">
            <a:avLst/>
          </a:prstGeom>
          <a:solidFill>
            <a:srgbClr val="4252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49840" y="233172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149840" y="2331720"/>
            <a:ext cx="1691640" cy="109728"/>
          </a:xfrm>
          <a:prstGeom prst="rect">
            <a:avLst/>
          </a:prstGeom>
          <a:solidFill>
            <a:srgbClr val="1F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24963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1014984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149840" y="3319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콘솔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4069080"/>
            <a:ext cx="3657600" cy="310896"/>
          </a:xfrm>
          <a:prstGeom prst="rect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0690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 GENERATION  &amp;  TRANSPORT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51960" y="4069080"/>
            <a:ext cx="3657600" cy="310896"/>
          </a:xfrm>
          <a:prstGeom prst="rect">
            <a:avLst/>
          </a:prstGeom>
          <a:solidFill>
            <a:srgbClr val="EDE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51960" y="40690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A4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INTELLIGENCE  &amp;  PROCESSING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83880" y="4069080"/>
            <a:ext cx="3657600" cy="310896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83880" y="40690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  &amp;  PRESENTATION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" y="4937760"/>
            <a:ext cx="111556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77240" y="5029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설계 원칙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77240" y="5440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🔌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143000" y="5440680"/>
            <a:ext cx="312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 통신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143000" y="5715000"/>
            <a:ext cx="312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간 결합도가 낮아 개별 교체·분산 배치 가능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312920" y="5440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💾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678680" y="5440680"/>
            <a:ext cx="312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SQLite 영속화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678680" y="5715000"/>
            <a:ext cx="312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WAL 모드로 동시 읽기/쓰기 · 재시작 후 데이터 유지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848600" y="5440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214360" y="5440680"/>
            <a:ext cx="312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백그라운드 워커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214360" y="5715000"/>
            <a:ext cx="312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Decision은 1초 주기로 push, 대시보드 폴링에 의존하지 않음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BEMS Anomaly Operations Center · ICT Module 4 · 김성현 2021271250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스택과 코드 통계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LLM 의존성 없는 순수 룰 엔진 구현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69494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40280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26280" y="2267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649224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700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2670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3.11+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6700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타입 힌트 활용 모던 파이썬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127248"/>
            <a:ext cx="6492240" cy="4572"/>
          </a:xfrm>
          <a:prstGeom prst="rect">
            <a:avLst/>
          </a:prstGeom>
          <a:solidFill>
            <a:srgbClr val="F1F2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729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통신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3172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httpx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31729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 · 자동 OpenAPI 문서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3630168"/>
            <a:ext cx="6492240" cy="4572"/>
          </a:xfrm>
          <a:prstGeom prst="rect">
            <a:avLst/>
          </a:prstGeom>
          <a:solidFill>
            <a:srgbClr val="F1F2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758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영속화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40280" y="3675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(WAL)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36758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 · 동시 읽기/쓰기 지원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4133088"/>
            <a:ext cx="6492240" cy="4572"/>
          </a:xfrm>
          <a:prstGeom prst="rect">
            <a:avLst/>
          </a:prstGeom>
          <a:solidFill>
            <a:srgbClr val="F1F2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1788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데이터/ML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40280" y="4178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· pandas · scikit-learn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26280" y="41788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롤링 윈도우 · IsolationForest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1520" y="4636008"/>
            <a:ext cx="6492240" cy="4572"/>
          </a:xfrm>
          <a:prstGeom prst="rect">
            <a:avLst/>
          </a:prstGeom>
          <a:solidFill>
            <a:srgbClr val="F1F2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6817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40280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+ Plotly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26280" y="46817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 새로고침 · 인터랙티브 차트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1520" y="5138928"/>
            <a:ext cx="6492240" cy="4572"/>
          </a:xfrm>
          <a:prstGeom prst="rect">
            <a:avLst/>
          </a:prstGeom>
          <a:solidFill>
            <a:srgbClr val="F1F2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1846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40280" y="5184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26280" y="51846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24개 케이스 · 데드락 회귀 포함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1520" y="5641848"/>
            <a:ext cx="6492240" cy="4572"/>
          </a:xfrm>
          <a:prstGeom prst="rect">
            <a:avLst/>
          </a:prstGeom>
          <a:solidFill>
            <a:srgbClr val="F1F2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6875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관리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240280" y="56875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26280" y="56875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726680" y="2103120"/>
            <a:ext cx="3931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726680" y="2103120"/>
            <a:ext cx="73152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2103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2,792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41832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Lines of Code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26680" y="2788920"/>
            <a:ext cx="3931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726680" y="2788920"/>
            <a:ext cx="73152" cy="640080"/>
          </a:xfrm>
          <a:prstGeom prst="rect">
            <a:avLst/>
          </a:prstGeom>
          <a:solidFill>
            <a:srgbClr val="6A4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418320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726680" y="3474720"/>
            <a:ext cx="3931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726680" y="3474720"/>
            <a:ext cx="73152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55280" y="3474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9418320" y="3474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Zones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726680" y="4160520"/>
            <a:ext cx="3931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726680" y="4160520"/>
            <a:ext cx="73152" cy="640080"/>
          </a:xfrm>
          <a:prstGeom prst="rect">
            <a:avLst/>
          </a:prstGeom>
          <a:solidFill>
            <a:srgbClr val="6A4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55280" y="4160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941832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 Detectors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726680" y="4846320"/>
            <a:ext cx="3931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726680" y="4846320"/>
            <a:ext cx="73152" cy="640080"/>
          </a:xfrm>
          <a:prstGeom prst="rect">
            <a:avLst/>
          </a:prstGeom>
          <a:solidFill>
            <a:srgbClr val="1F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55280" y="4846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9418320" y="4846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 Rules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726680" y="5532120"/>
            <a:ext cx="3931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726680" y="5532120"/>
            <a:ext cx="73152" cy="640080"/>
          </a:xfrm>
          <a:prstGeom prst="rect">
            <a:avLst/>
          </a:prstGeom>
          <a:solidFill>
            <a:srgbClr val="1F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55280" y="5532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9418320" y="5532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Pytest Cases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BEMS Anomaly Operations Center · ICT Module 4 · 김성현 2021271250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DATA  GENERATION  +  TRANSPORT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Stage 1 · Generator   ▸   Stage 2 · Transmitter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데이터를 합성하고, 현실의 네트워크 열화를 의도적으로 주입합니다.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53949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103120"/>
            <a:ext cx="73152" cy="420624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2194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Generator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34440" y="2514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agents/generator.py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zone에 대해 4채널 BEMS 센서를 1초마다 합성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SENSOR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88920" y="3246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69080" y="3246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ANOMALY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3538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Power (kW)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3538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– 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69080" y="3538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7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 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831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Temperature (°C)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88920" y="3831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– 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69080" y="38313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7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 30  /  &lt; 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1239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Humidity (%)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88920" y="41239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– 60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69080" y="41239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7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 75  /  &lt; 25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416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CO₂ (ppm)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88920" y="44165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 – 800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69080" y="4416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7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 1200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470916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일일 점유율 사이클 (sin) + Gaussian 노이즈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매 샘플마다 ground-truth label (is_anomaly, scenario)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4% 확률로 5개 시나리오 중 하나를 자동 주입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2103120"/>
            <a:ext cx="53949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2103120"/>
            <a:ext cx="73152" cy="420624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95160" y="2194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Transmitter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995160" y="2514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agents/transmitter.py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2880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Generator 샘플을 받아 의도적으로 망가뜨려 Collector로 전송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37960" y="3246120"/>
            <a:ext cx="4892040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32918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127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040880" y="331927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Transmission Delay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355701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 – 1.5s 랜덤 지연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40880" y="37764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WiFi 혼잡 모사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37960" y="4160520"/>
            <a:ext cx="4892040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42062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127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✖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040880" y="423367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Drop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40880" y="447141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 확률로 패킷 폐기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040880" y="46908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층간 신호 감쇠 모사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537960" y="5074920"/>
            <a:ext cx="4892040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51206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127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≈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040880" y="514807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Sensor Noise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40880" y="538581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Gaussian noise × 1.2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040880" y="56052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전자파 간섭 모사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BEMS Anomaly Operations Center · ICT Module 4 · 김성현 2021271250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STAGE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Collector — FastAPI 허브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데이터의 진입점이자 영속 저장소, 그리고 백그라운드 워커의 호스트.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64008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194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 · /docs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http://127.0.0.1:8000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871216"/>
            <a:ext cx="647395" cy="237744"/>
          </a:xfrm>
          <a:prstGeom prst="rect">
            <a:avLst/>
          </a:prstGeom>
          <a:solidFill>
            <a:srgbClr val="EDE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71216"/>
            <a:ext cx="6473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A4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4630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/truth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Generator의 clean 샘플 (평가용)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182112"/>
            <a:ext cx="647395" cy="237744"/>
          </a:xfrm>
          <a:prstGeom prst="rect">
            <a:avLst/>
          </a:prstGeom>
          <a:solidFill>
            <a:srgbClr val="EDE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82112"/>
            <a:ext cx="6473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A4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463040" y="3145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/ingest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3145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Transmitter의 열화된 패킷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493008"/>
            <a:ext cx="647395" cy="237744"/>
          </a:xfrm>
          <a:prstGeom prst="rect">
            <a:avLst/>
          </a:prstGeom>
          <a:solidFill>
            <a:srgbClr val="EDE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93008"/>
            <a:ext cx="6473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A4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6304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/inject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456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시나리오 또는 커스텀 샘플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3803904"/>
            <a:ext cx="647395" cy="237744"/>
          </a:xfrm>
          <a:prstGeom prst="rect">
            <a:avLst/>
          </a:prstGeom>
          <a:solidFill>
            <a:srgbClr val="FD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803904"/>
            <a:ext cx="6473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A127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46304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767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저장소 초기화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" y="4114800"/>
            <a:ext cx="554126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114800"/>
            <a:ext cx="5541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463040" y="4078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/raw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40782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버퍼링된 readings + 결측 seq 리스트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7240" y="4425696"/>
            <a:ext cx="554126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425696"/>
            <a:ext cx="5541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46304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/processed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4389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 복구 + 이상 플래그 프레임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7240" y="4736592"/>
            <a:ext cx="554126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736592"/>
            <a:ext cx="5541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463040" y="4700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/decisions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83280" y="4700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Severity + diagnosis + action 히스토리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7240" y="5047488"/>
            <a:ext cx="554126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047488"/>
            <a:ext cx="5541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463040" y="5010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83280" y="5010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Zone별 패킷 통계 + 워커 상태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77240" y="5358384"/>
            <a:ext cx="554126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358384"/>
            <a:ext cx="5541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463040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/evaluation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83280" y="5321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보간 MAE + 탐지 P/R/F1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7240" y="5669280"/>
            <a:ext cx="554126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5669280"/>
            <a:ext cx="5541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463040" y="5632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/scenarios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383280" y="5632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프리셋 시나리오 라이브러리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77240" y="5980176"/>
            <a:ext cx="554126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5980176"/>
            <a:ext cx="5541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463040" y="5943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83280" y="5943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라이브니스 프로브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178040" y="2103120"/>
            <a:ext cx="44805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178040" y="2103120"/>
            <a:ext cx="73152" cy="1965960"/>
          </a:xfrm>
          <a:prstGeom prst="rect">
            <a:avLst/>
          </a:prstGeom>
          <a:solidFill>
            <a:srgbClr val="6A4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0664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SQLite Store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40664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data/bems.sqlite3  ·  WAL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40664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4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63524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truth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680960" y="30358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Generator가 만든 원본 (ground truth)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406640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4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635240" y="3218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680960" y="34198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Transmitter가 보낸 degraded data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40664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4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635240" y="36027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680960" y="38039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Severity · diagnosis · action 결과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178040" y="4206240"/>
            <a:ext cx="44805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7178040" y="4206240"/>
            <a:ext cx="73152" cy="2103120"/>
          </a:xfrm>
          <a:prstGeom prst="rect">
            <a:avLst/>
          </a:prstGeom>
          <a:solidFill>
            <a:srgbClr val="1F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06640" y="4297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Background Worker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7406640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1초 주기 · push 방식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406640" y="489204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Stage 4 + 5를 백그라운드 스레드에서 실행. 대시보드가 꺼져 있어도 결정은 계속 만들어지고 DB에 영구 기록됨.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새 readings만 골라서 처리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예외 발생 시 last_error에 기록 후 계속 동작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별도 lock으로 store와 안전하게 공유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BEMS Anomaly Operations Center · ICT Module 4 · 김성현 2021271250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·  STAGE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 Processor — 보간 + 3-Detector 앙상블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잃어버린 데이터는 복구하고, 남은 데이터에서 이상을 잡아냅니다.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111556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2677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2677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Reindex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560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 seq 행을 NaN으로 채워 연속화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18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E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22677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86200" y="22677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Interpolate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6200" y="2560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 보간으로 NaN 값 추정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E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80760" y="22677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2677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Detect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560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detector 병렬 실행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667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E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78240" y="22677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81160" y="22677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Combine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81160" y="2560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 OR Z-score OR IForest → anomaly_any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383280"/>
            <a:ext cx="35356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383280"/>
            <a:ext cx="3535680" cy="502920"/>
          </a:xfrm>
          <a:prstGeom prst="rect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474720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Robust Z-score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3675888"/>
            <a:ext cx="275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기반 · 단변량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1520" y="4069080"/>
            <a:ext cx="3124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MAD(Median Absolute Deviation)로 강건하게 σ를 추정. |z| &gt; 2.5 시 플래그.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5166360"/>
            <a:ext cx="30784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257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5486400"/>
            <a:ext cx="312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빠름, 윈도우 단위로 즉시 계산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단일 이상치에 통계가 오염되지 않음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12920" y="3383280"/>
            <a:ext cx="35356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12920" y="3383280"/>
            <a:ext cx="3535680" cy="502920"/>
          </a:xfrm>
          <a:prstGeom prst="rect">
            <a:avLst/>
          </a:prstGeom>
          <a:solidFill>
            <a:srgbClr val="FD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41520" y="3474720"/>
            <a:ext cx="365760" cy="365760"/>
          </a:xfrm>
          <a:prstGeom prst="ellipse">
            <a:avLst/>
          </a:prstGeom>
          <a:solidFill>
            <a:srgbClr val="A127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415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98720" y="3474720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 Threshold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98720" y="3675888"/>
            <a:ext cx="275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 규격 기반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41520" y="4069080"/>
            <a:ext cx="3124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사양의 하드 임계 (예: power &gt; 8 kW, temp &gt; 30°C)를 직접 비교.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41520" y="5166360"/>
            <a:ext cx="30784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41520" y="5257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41520" y="5486400"/>
            <a:ext cx="312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설명 가능, 도메인 룰 그대로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Critical 등급 판정의 1차 기준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22920" y="3383280"/>
            <a:ext cx="35356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22920" y="3383280"/>
            <a:ext cx="3535680" cy="502920"/>
          </a:xfrm>
          <a:prstGeom prst="rect">
            <a:avLst/>
          </a:prstGeom>
          <a:solidFill>
            <a:srgbClr val="EDE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51520" y="3474720"/>
            <a:ext cx="365760" cy="365760"/>
          </a:xfrm>
          <a:prstGeom prst="ellipse">
            <a:avLst/>
          </a:prstGeom>
          <a:solidFill>
            <a:srgbClr val="6A4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515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808720" y="3474720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IsolationForest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808720" y="3675888"/>
            <a:ext cx="275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다변량 · ML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351520" y="4069080"/>
            <a:ext cx="3124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scikit-learn IsolationForest, contamination=0.05. 여러 센서의 결합 패턴이 비정상이면 플래그.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351520" y="5166360"/>
            <a:ext cx="30784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51520" y="5257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351520" y="5486400"/>
            <a:ext cx="312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단일 센서로는 못 잡는 패턴 포착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n_estimators=80 · zone별 학습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BEMS Anomaly Operations Center · ICT Module 4 · 김성현 2021271250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·  STAGE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 — 결정론적 룰 엔진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센서가 어느 방향으로 발화했는지 패턴을 매칭하여 근본 원인을 추정합니다.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11155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SEVERITY CLASSIFICATION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2542032"/>
            <a:ext cx="1097280" cy="384048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420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84248" y="2542032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트리거 없음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542032"/>
            <a:ext cx="1097280" cy="384048"/>
          </a:xfrm>
          <a:prstGeom prst="rect">
            <a:avLst/>
          </a:prstGeom>
          <a:solidFill>
            <a:srgbClr val="FFF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2920" y="25420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19928" y="2542032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Z-score 또는 IForest만 발화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48600" y="2542032"/>
            <a:ext cx="1097280" cy="384048"/>
          </a:xfrm>
          <a:prstGeom prst="rect">
            <a:avLst/>
          </a:prstGeom>
          <a:solidFill>
            <a:srgbClr val="FD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48600" y="25420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127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5608" y="2542032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 임계 위반  또는  |z| &gt; 4.0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246120"/>
            <a:ext cx="111556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337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RULE ENGINE  ·  9개 규칙, 위에서부터 매칭, 첫 매치 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RULE ID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148840" y="3657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REQUIRED SIGNALS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26280" y="3657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FORBIDDEN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8932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DIAGNOSIS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732520" y="3657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RECOMMENDED ACTION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77240" y="3931920"/>
            <a:ext cx="1060704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023360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fire_risk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48840" y="4023360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temp↑ + co2↑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26280" y="4023360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humidity↑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89320" y="4023360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Possible fire / thermal event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732520" y="4023360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 smoke detectors, dispatch inspection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77240" y="4251960"/>
            <a:ext cx="10607040" cy="3658"/>
          </a:xfrm>
          <a:prstGeom prst="rect">
            <a:avLst/>
          </a:prstGeom>
          <a:solidFill>
            <a:srgbClr val="F4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256532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hvac_failure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48840" y="4256532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temp↑ + humidity↑ + co2↑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26280" y="4256532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89320" y="4256532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HVAC cooling failure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732520" y="4256532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Inspect chiller, switch to backup AHU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7240" y="4485132"/>
            <a:ext cx="10607040" cy="3658"/>
          </a:xfrm>
          <a:prstGeom prst="rect">
            <a:avLst/>
          </a:prstGeom>
          <a:solidFill>
            <a:srgbClr val="F4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489704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peak_load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148840" y="4489704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power↑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26280" y="4489704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temp↑, co2↑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989320" y="4489704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Peak power load event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732520" y="4489704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Identify high-consumption circuit, load shed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77240" y="4718304"/>
            <a:ext cx="10607040" cy="3658"/>
          </a:xfrm>
          <a:prstGeom prst="rect">
            <a:avLst/>
          </a:prstGeom>
          <a:solidFill>
            <a:srgbClr val="F4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4722876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cold_snap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148840" y="4722876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temp↓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26280" y="4722876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989320" y="4722876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Heating loss / open vent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732520" y="4722876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 heating loop, inspect doors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77240" y="4951476"/>
            <a:ext cx="10607040" cy="3658"/>
          </a:xfrm>
          <a:prstGeom prst="rect">
            <a:avLst/>
          </a:prstGeom>
          <a:solidFill>
            <a:srgbClr val="F4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4956048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occupancy_spike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148840" y="4956048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co2↑ + humidity↑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526280" y="4956048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power↑, temp↑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989320" y="4956048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Occupancy spike / under-ventilation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732520" y="4956048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Raise outdoor-air damper set-point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77240" y="5184648"/>
            <a:ext cx="10607040" cy="3658"/>
          </a:xfrm>
          <a:prstGeom prst="rect">
            <a:avLst/>
          </a:prstGeom>
          <a:solidFill>
            <a:srgbClr val="F4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7240" y="5189220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humidity_anomaly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148840" y="5189220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humidity↑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526280" y="5189220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989320" y="5189220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Humidity anomaly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732520" y="5189220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 dehumidifier, water ingress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77240" y="5417820"/>
            <a:ext cx="10607040" cy="3658"/>
          </a:xfrm>
          <a:prstGeom prst="rect">
            <a:avLst/>
          </a:prstGeom>
          <a:solidFill>
            <a:srgbClr val="F4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7240" y="5422392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low_humidity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148840" y="5422392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humidity↓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526280" y="5422392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989320" y="5422392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 humidity / dry air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732520" y="5422392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Engage humidifier, check steam pressure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77240" y="5650992"/>
            <a:ext cx="10607040" cy="3658"/>
          </a:xfrm>
          <a:prstGeom prst="rect">
            <a:avLst/>
          </a:prstGeom>
          <a:solidFill>
            <a:srgbClr val="F4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" y="5655564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co2_only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2148840" y="5655564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co2↑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526280" y="5655564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989320" y="5655564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Elevated CO₂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732520" y="5655564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Increase outdoor-air intake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77240" y="5884164"/>
            <a:ext cx="10607040" cy="3658"/>
          </a:xfrm>
          <a:prstGeom prst="rect">
            <a:avLst/>
          </a:prstGeom>
          <a:solidFill>
            <a:srgbClr val="F4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7240" y="5888736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temperature_only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148840" y="5888736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temp↑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526280" y="5888736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989320" y="5888736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Temperature drift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732520" y="5888736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 set-point, inspect VAV box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BEMS Anomaly Operations Center · ICT Module 4 · 김성현 2021271250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·  STAGE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Dashboard — 엔터프라이즈 운영 콘솔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탭으로 분리된 Streamlit 콘솔. 실시간 데이터를 시각화하고 사용자 조작을 받습니다.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35966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103120"/>
            <a:ext cx="3596640" cy="502920"/>
          </a:xfrm>
          <a:prstGeom prst="rect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128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19456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18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헬스 보드 · 6개 서비스 상태 · 결정 타임라인 · zone별 카드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82440" y="2103120"/>
            <a:ext cx="35966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82440" y="2103120"/>
            <a:ext cx="3596640" cy="502920"/>
          </a:xfrm>
          <a:prstGeom prst="rect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5320" y="22128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22520" y="219456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Telemetry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11040" y="2788920"/>
            <a:ext cx="318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Zone 선택 · 4센서 실시간 차트 · raw vs interpolated · 이상치 오버레이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61960" y="2103120"/>
            <a:ext cx="35966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61960" y="2103120"/>
            <a:ext cx="3596640" cy="502920"/>
          </a:xfrm>
          <a:prstGeom prst="rect">
            <a:avLst/>
          </a:prstGeom>
          <a:solidFill>
            <a:srgbClr val="EDE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4840" y="22128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4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02040" y="219456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Pipeline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90560" y="2788920"/>
            <a:ext cx="318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에이전트 위상도 · 각 에이전트의 상태/KPI/책임/소스 파일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35966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251960"/>
            <a:ext cx="3596640" cy="502920"/>
          </a:xfrm>
          <a:prstGeom prst="rect">
            <a:avLst/>
          </a:prstGeom>
          <a:solidFill>
            <a:srgbClr val="FD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3616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27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434340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Alerts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4937760"/>
            <a:ext cx="318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Severity · zone 필터 · 진단/권고/증거 컬럼 · CSV 내보내기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82440" y="4251960"/>
            <a:ext cx="35966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82440" y="4251960"/>
            <a:ext cx="3596640" cy="502920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65320" y="43616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22520" y="434340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Lab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11040" y="4937760"/>
            <a:ext cx="318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프리셋 시나리오 원클릭 주입 · 커스텀 센서값 폼 · 최근 주입 이력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61960" y="4251960"/>
            <a:ext cx="35966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61960" y="4251960"/>
            <a:ext cx="3596640" cy="502920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4840" y="43616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02040" y="434340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Quality Metrics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90560" y="4937760"/>
            <a:ext cx="318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보간 MAE 표 · 4-detector P/R/F1 표 · F1 비교 막대 차트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BEMS Anomaly Operations Center · ICT Module 4 · 김성현 2021271250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 TOUR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Operations  &amp;  Alerts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운영자가 시스템을 모니터링하고 알림을 조치하는 두 화면.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53949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2194560"/>
            <a:ext cx="5212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67712"/>
            <a:ext cx="256032" cy="256032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BEMS · Anomaly Operations Center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2286000"/>
            <a:ext cx="833933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286000"/>
            <a:ext cx="83393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ALL OK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697480"/>
            <a:ext cx="5212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24912"/>
            <a:ext cx="853440" cy="237744"/>
          </a:xfrm>
          <a:prstGeom prst="rect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9352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Telemetry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4696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Pipeline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0040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Alerts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5384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0728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Metrics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3108960"/>
            <a:ext cx="79248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154680"/>
            <a:ext cx="79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ZONES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40080" y="3337560"/>
            <a:ext cx="79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478280" y="3108960"/>
            <a:ext cx="79248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78280" y="3154680"/>
            <a:ext cx="79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478280" y="3337560"/>
            <a:ext cx="79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316480" y="3108960"/>
            <a:ext cx="79248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6480" y="3154680"/>
            <a:ext cx="79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316480" y="3337560"/>
            <a:ext cx="79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154680" y="3108960"/>
            <a:ext cx="79248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3154680"/>
            <a:ext cx="79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154680" y="3337560"/>
            <a:ext cx="79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4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992880" y="3108960"/>
            <a:ext cx="79248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92880" y="3154680"/>
            <a:ext cx="79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CRITICAL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992880" y="3337560"/>
            <a:ext cx="79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127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31080" y="3108960"/>
            <a:ext cx="79248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31080" y="3154680"/>
            <a:ext cx="79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WARNING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831080" y="3337560"/>
            <a:ext cx="79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Services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" y="4160520"/>
            <a:ext cx="512064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1E4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41605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Generator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4178808"/>
            <a:ext cx="1005840" cy="201168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178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OPERATIONAL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40080" y="4434840"/>
            <a:ext cx="512064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1E4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4348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Transmitter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4453128"/>
            <a:ext cx="1005840" cy="201168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44531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OPERATIONAL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40080" y="4709160"/>
            <a:ext cx="512064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1E4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47091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Collector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4727448"/>
            <a:ext cx="1005840" cy="201168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4727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OPERATIONAL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40080" y="4983480"/>
            <a:ext cx="512064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1E4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4983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 Processor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5001768"/>
            <a:ext cx="1005840" cy="201168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50017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OPERATIONAL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40080" y="5257800"/>
            <a:ext cx="512064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1E4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52578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09160" y="5276088"/>
            <a:ext cx="1005840" cy="201168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9160" y="5276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OPERATIONAL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40080" y="5532120"/>
            <a:ext cx="512064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1E4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55321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Dashboard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09160" y="5550408"/>
            <a:ext cx="1005840" cy="201168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09160" y="55504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OPERATIONAL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02920" y="182880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 #1  —  Operations View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63640" y="2103120"/>
            <a:ext cx="53949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355080" y="2194560"/>
            <a:ext cx="5212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46520" y="2267712"/>
            <a:ext cx="256032" cy="256032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46520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766560" y="22677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BEMS · Anomaly Operations Center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0561320" y="2286000"/>
            <a:ext cx="833933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561320" y="2286000"/>
            <a:ext cx="83393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ALL OK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355080" y="2697480"/>
            <a:ext cx="5212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080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25424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Telemetry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10768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Pipeline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8961120" y="2724912"/>
            <a:ext cx="853440" cy="237744"/>
          </a:xfrm>
          <a:prstGeom prst="rect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96112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Alerts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981456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Lab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066800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Metrics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263640" y="182880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 #4  —  Alerts Feed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400800" y="3108960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00800" y="3108960"/>
            <a:ext cx="45720" cy="621792"/>
          </a:xfrm>
          <a:prstGeom prst="rect">
            <a:avLst/>
          </a:prstGeom>
          <a:solidFill>
            <a:srgbClr val="A127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10528" y="3145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14:23:05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510528" y="3337560"/>
            <a:ext cx="822960" cy="201168"/>
          </a:xfrm>
          <a:prstGeom prst="rect">
            <a:avLst/>
          </a:prstGeom>
          <a:solidFill>
            <a:srgbClr val="FD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510528" y="3337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A127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CRITICAL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510528" y="35478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Zone-A · seq 33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7589520" y="316382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Possible fire / thermal event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589520" y="33832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권고: Verify smoke detectors; dispatch on-site inspection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400800" y="3785616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400800" y="3785616"/>
            <a:ext cx="45720" cy="621792"/>
          </a:xfrm>
          <a:prstGeom prst="rect">
            <a:avLst/>
          </a:prstGeom>
          <a:solidFill>
            <a:srgbClr val="A127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10528" y="38221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14:23:04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6510528" y="4014216"/>
            <a:ext cx="822960" cy="201168"/>
          </a:xfrm>
          <a:prstGeom prst="rect">
            <a:avLst/>
          </a:prstGeom>
          <a:solidFill>
            <a:srgbClr val="FD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510528" y="40142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A127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CRITICAL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6510528" y="42245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Zone-B · seq 28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7589520" y="38404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HVAC cooling failure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7589520" y="405993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권고: Inspect chiller, switch to backup AHU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400800" y="4462272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400800" y="4462272"/>
            <a:ext cx="45720" cy="621792"/>
          </a:xfrm>
          <a:prstGeom prst="rect">
            <a:avLst/>
          </a:prstGeom>
          <a:solidFill>
            <a:srgbClr val="9A5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10528" y="44988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14:23:03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10528" y="4690872"/>
            <a:ext cx="822960" cy="201168"/>
          </a:xfrm>
          <a:prstGeom prst="rect">
            <a:avLst/>
          </a:prstGeom>
          <a:solidFill>
            <a:srgbClr val="FFF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10528" y="4690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WARNING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6510528" y="4901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Zone-C · seq 44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7589520" y="451713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Occupancy spike / under-ventilation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7589520" y="47365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권고: Raise outdoor-air damper set-point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6400800" y="5138928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400800" y="5138928"/>
            <a:ext cx="45720" cy="621792"/>
          </a:xfrm>
          <a:prstGeom prst="rect">
            <a:avLst/>
          </a:prstGeom>
          <a:solidFill>
            <a:srgbClr val="9A5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10528" y="51755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14:23:02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6510528" y="5367528"/>
            <a:ext cx="822960" cy="201168"/>
          </a:xfrm>
          <a:prstGeom prst="rect">
            <a:avLst/>
          </a:prstGeom>
          <a:solidFill>
            <a:srgbClr val="FFF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510528" y="53675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WARNING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6510528" y="55778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Zone-A · seq 31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7589520" y="51937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Temperature drift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7589520" y="54132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권고: Verify set-point, inspect VAV box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BEMS Anomaly Operations Center · ICT Module 4 · 김성현 2021271250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 TOUR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Lab  &amp;  Quality Metrics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직접 시나리오를 주입하고, 시스템 품질을 정량적으로 평가합니다.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 #5  —  Scenario Lab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53949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2677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Lab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Controlled Fault Injection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synthetic samples into the pipeline to validate runbooks. Injected samples are labelled as ground-truth anomalies.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3474720"/>
            <a:ext cx="50292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5295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fire_risk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80160" y="3675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Fire Risk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547872"/>
            <a:ext cx="914400" cy="27432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547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Inject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977640"/>
            <a:ext cx="50292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77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032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hvac_failure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80160" y="41788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HVAC Failure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4050792"/>
            <a:ext cx="914400" cy="27432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050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Inject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480560"/>
            <a:ext cx="50292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480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⚡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5354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peak_load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280160" y="4681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Peak Power Load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4553712"/>
            <a:ext cx="914400" cy="27432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553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Inject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" y="4983480"/>
            <a:ext cx="50292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983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🧊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80160" y="50383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cold_snap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80160" y="5184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Cold Snap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5056632"/>
            <a:ext cx="914400" cy="27432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5056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Inject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" y="5486400"/>
            <a:ext cx="50292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486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👥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80160" y="55412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occupancy_spike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280160" y="5687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Occupancy Spike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5559552"/>
            <a:ext cx="914400" cy="27432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5559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Inject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63640" y="182880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 #6  —  Quality Metrics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2103120"/>
            <a:ext cx="53949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46520" y="22677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Quality Metrics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46520" y="2560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Evaluation against ground-truth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46520" y="2880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Interpolation MAE  ·  recovered seqs only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46520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SENSOR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001000" y="31546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732520" y="31546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446520" y="34107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power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001000" y="34107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kW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732520" y="34107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0.31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446520" y="36667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temperature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001000" y="366674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°C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732520" y="366674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0.24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446520" y="392277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humidity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001000" y="392277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732520" y="392277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1.45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46520" y="41788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co2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001000" y="41788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ppm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732520" y="41788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11.8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446520" y="4617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Detection F1  ·  vs ground-truth labels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446520" y="48920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zscore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726680" y="4937760"/>
            <a:ext cx="3291840" cy="146304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4937760"/>
            <a:ext cx="2370125" cy="146304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064240" y="48920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446520" y="5166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hard_threshold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726680" y="5212080"/>
            <a:ext cx="3291840" cy="146304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26680" y="5212080"/>
            <a:ext cx="2995574" cy="146304"/>
          </a:xfrm>
          <a:prstGeom prst="rect">
            <a:avLst/>
          </a:prstGeom>
          <a:solidFill>
            <a:srgbClr val="A127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064240" y="51663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446520" y="54406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iforest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726680" y="5486400"/>
            <a:ext cx="3291840" cy="146304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26680" y="5486400"/>
            <a:ext cx="2238451" cy="146304"/>
          </a:xfrm>
          <a:prstGeom prst="rect">
            <a:avLst/>
          </a:prstGeom>
          <a:solidFill>
            <a:srgbClr val="6A4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064240" y="54406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0.68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446520" y="57150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726680" y="5760720"/>
            <a:ext cx="3291840" cy="146304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26680" y="5760720"/>
            <a:ext cx="3094330" cy="146304"/>
          </a:xfrm>
          <a:prstGeom prst="rect">
            <a:avLst/>
          </a:prstGeom>
          <a:solidFill>
            <a:srgbClr val="1F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064240" y="57150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0.94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BEMS Anomaly Operations Center · ICT Module 4 · 김성현 2021271250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·  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시스템으로 할 수 있는 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실제로 수행 가능한 작업 8가지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4884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331720"/>
            <a:ext cx="502920" cy="502920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모니터링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5328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zone의 4센서 데이터를 1초 단위 라이브 차트로 관찰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패킷 손실 복구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86600" y="25328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10% 드롭된 시퀀스를 자동으로 보간하여 시계열 단절 제거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15468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337560"/>
            <a:ext cx="502920" cy="502920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탐지기 비교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35387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Z-score · 하드 임계 · IsolationForest 3개를 동시에 적용하고 결과 비교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315468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3337560"/>
            <a:ext cx="502920" cy="502920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근본 원인 자동 추정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86600" y="35387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9개 룰을 매칭하여 어떤 유형의 사고인지 진단 + 권고 조치 출력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16052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" y="4343400"/>
            <a:ext cx="502920" cy="502920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🧪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25880" y="4251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주입 테스트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45445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프리셋(화재/HVAC/피크/저온/점유) 원클릭, 또는 임의 센서값 직접 입력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416052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46520" y="4343400"/>
            <a:ext cx="502920" cy="502920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086600" y="4251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정량적 품질 평가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86600" y="45445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보간 MAE와 각 detector의 P/R/F1을 ground truth와 비교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516636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5800" y="5349240"/>
            <a:ext cx="502920" cy="502920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📤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내보내기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25880" y="55504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필터링한 알림 목록을 CSV로 다운로드 (운영 보고서 생성)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516636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46520" y="5349240"/>
            <a:ext cx="502920" cy="502920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🗄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08660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영속화 및 리셋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86600" y="55504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SQLite로 재시작 후에도 이력 유지, 사이드바에서 원클릭 초기화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BEMS Anomaly Operations Center · ICT Module 4 · 김성현 2021271250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6C4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 ·  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성과와 향후 과제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349240" cy="3840480"/>
          </a:xfrm>
          <a:prstGeom prst="rect">
            <a:avLst/>
          </a:prstGeom>
          <a:solidFill>
            <a:srgbClr val="1A2A5E"/>
          </a:solidFill>
          <a:ln w="12700">
            <a:solidFill>
              <a:srgbClr val="1F5D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ACHIEVED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프로젝트가 달성한 것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92608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6단계 에이전트 파이프라인 — 모두 독립 프로세스로 분리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32918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10% 패킷 손실 + 0.2–1.5s 지연 환경에서 시계열 무결성 유지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65760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3-detector 앙상블로 단변량/다변량 이상 모두 포착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02336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9개 룰 엔진으로 결정론적·감사 가능한 진단 (블랙박스 X)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38912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438912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엔터프라이즈 톤의 6탭 운영 콘솔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475488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Pytest 24개 — 데드락 회귀 테스트 포함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206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ground-truth 라벨 기반 P/R/F1 정량 평가 내장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1920240"/>
            <a:ext cx="5349240" cy="3840480"/>
          </a:xfrm>
          <a:prstGeom prst="rect">
            <a:avLst/>
          </a:prstGeom>
          <a:solidFill>
            <a:srgbClr val="1A2A5E"/>
          </a:solidFill>
          <a:ln w="12700">
            <a:solidFill>
              <a:srgbClr val="6A4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5B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24688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앞으로의 확장 방향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29400" y="292608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4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292608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ASHRAE 데이터셋으로 분포 fit (현재는 sin 근사)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32918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4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32918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시계열 모델 추가 — LSTM/AR로 IsolationForest와 비교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29400" y="36576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4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49440" y="365760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WebSocket으로 실시간 push (지금은 폴링)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29400" y="40233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4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402336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 건물 (multi-site) 확장과 권한 분리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9400" y="438912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4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49440" y="438912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Alert 전송 채널 — Slack / 이메일 / 페이지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29400" y="475488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4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49440" y="475488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Grafana / Prometheus 메트릭 export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29400" y="51206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4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49440" y="51206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인증 (현재 /ingest 공개)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6126480"/>
            <a:ext cx="11155680" cy="4114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126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  ·  Q &amp; 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BEMS Anomaly Operations Center · ICT Module 4 · 김성현 2021271250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442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ICT Module 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BEMS Anomaly Operations Center</dc:title>
  <dc:subject>PptxGenJS Presentation</dc:subject>
  <dc:creator>김성현 · 2021271250</dc:creator>
  <cp:lastModifiedBy>김성현 · 2021271250</cp:lastModifiedBy>
  <cp:revision>1</cp:revision>
  <dcterms:created xsi:type="dcterms:W3CDTF">2026-05-18T08:15:08Z</dcterms:created>
  <dcterms:modified xsi:type="dcterms:W3CDTF">2026-05-18T08:15:08Z</dcterms:modified>
</cp:coreProperties>
</file>