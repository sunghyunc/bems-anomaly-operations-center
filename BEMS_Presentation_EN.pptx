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700000">
            <a:off x="502920" y="640080"/>
            <a:ext cx="502920" cy="50292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40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0" y="713232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6C4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BEMS · Operations Console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Building Energy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02920" y="265176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Anomaly Detection &amp; Response System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502920" y="36576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6C4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6-stage agent pipeline · multi-zone telemetry · ML recovery · rule-engine diagnostics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2920" y="4754880"/>
            <a:ext cx="4572000" cy="1463040"/>
          </a:xfrm>
          <a:prstGeom prst="rect">
            <a:avLst/>
          </a:prstGeom>
          <a:solidFill>
            <a:srgbClr val="1A2A5E"/>
          </a:solidFill>
          <a:ln w="12700">
            <a:solidFill>
              <a:srgbClr val="1F5D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489204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6C4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ICT Module 4 · Intermediate Project
</a:t>
            </a:r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Kim Sung-hyun  · 2021271250
</a:t>
            </a:r>
            <a:pPr indent="0" marL="0">
              <a:buNone/>
            </a:pPr>
            <a:r>
              <a:rPr lang="en-US" sz="1200" dirty="0">
                <a:solidFill>
                  <a:srgbClr val="B6C4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Individual Project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0" y="4937760"/>
            <a:ext cx="1481328" cy="365760"/>
          </a:xfrm>
          <a:prstGeom prst="rect">
            <a:avLst/>
          </a:prstGeom>
          <a:solidFill>
            <a:srgbClr val="1A2A5E"/>
          </a:solidFill>
          <a:ln w="9525">
            <a:solidFill>
              <a:srgbClr val="1F5DD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493776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3.11+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991856" y="4937760"/>
            <a:ext cx="978408" cy="365760"/>
          </a:xfrm>
          <a:prstGeom prst="rect">
            <a:avLst/>
          </a:prstGeom>
          <a:solidFill>
            <a:srgbClr val="1A2A5E"/>
          </a:solidFill>
          <a:ln w="9525">
            <a:solidFill>
              <a:srgbClr val="1F5DD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91856" y="493776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FastAPI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079992" y="4937760"/>
            <a:ext cx="877824" cy="365760"/>
          </a:xfrm>
          <a:prstGeom prst="rect">
            <a:avLst/>
          </a:prstGeom>
          <a:solidFill>
            <a:srgbClr val="1A2A5E"/>
          </a:solidFill>
          <a:ln w="9525">
            <a:solidFill>
              <a:srgbClr val="1F5DD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79992" y="4937760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SQLite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067544" y="4937760"/>
            <a:ext cx="1481328" cy="365760"/>
          </a:xfrm>
          <a:prstGeom prst="rect">
            <a:avLst/>
          </a:prstGeom>
          <a:solidFill>
            <a:srgbClr val="1A2A5E"/>
          </a:solidFill>
          <a:ln w="9525">
            <a:solidFill>
              <a:srgbClr val="1F5D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67544" y="493776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scikit-learn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0" y="5440680"/>
            <a:ext cx="1179576" cy="365760"/>
          </a:xfrm>
          <a:prstGeom prst="rect">
            <a:avLst/>
          </a:prstGeom>
          <a:solidFill>
            <a:srgbClr val="1A2A5E"/>
          </a:solidFill>
          <a:ln w="9525">
            <a:solidFill>
              <a:srgbClr val="1F5DD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5440680"/>
            <a:ext cx="1179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Streamlit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690104" y="5440680"/>
            <a:ext cx="877824" cy="365760"/>
          </a:xfrm>
          <a:prstGeom prst="rect">
            <a:avLst/>
          </a:prstGeom>
          <a:solidFill>
            <a:srgbClr val="1A2A5E"/>
          </a:solidFill>
          <a:ln w="9525">
            <a:solidFill>
              <a:srgbClr val="1F5D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90104" y="5440680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Plotly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677656" y="5440680"/>
            <a:ext cx="877824" cy="365760"/>
          </a:xfrm>
          <a:prstGeom prst="rect">
            <a:avLst/>
          </a:prstGeom>
          <a:solidFill>
            <a:srgbClr val="1A2A5E"/>
          </a:solidFill>
          <a:ln w="9525">
            <a:solidFill>
              <a:srgbClr val="1F5DD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77656" y="5440680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Pytest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· Spring Semester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Agenda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We'll walk through how the system works and what each component does, in order.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4884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214884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214884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52728" y="22219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Overview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52728" y="247802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definition and approach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" y="292608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292608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" y="292608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52728" y="299923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Architecture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52728" y="32552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Six-Stage Agent Pipeline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370332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" y="370332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3703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52728" y="377647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Stack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52728" y="40325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Libraries used and code stats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448056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448056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7512" y="448056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52728" y="455371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1·2  Data Generation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52728" y="480974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Generator + Transmitter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2920" y="525780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525780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7512" y="525780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252728" y="533095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3  Collector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252728" y="558698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FastAPI + SQLite hub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63640" y="214884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63640" y="214884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214884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013448" y="22219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4  ML Processor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013448" y="247802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Interpolation + 3-detector ensemble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263640" y="292608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263640" y="292608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292608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013448" y="299923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5  Decision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7013448" y="32552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 rule engine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263640" y="370332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63640" y="370332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28232" y="3703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7013448" y="377647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6  Dashboard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7013448" y="40325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operations console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263640" y="448056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263640" y="448056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28232" y="448056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7013448" y="455371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Capabilities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7013448" y="480974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You Can Do With It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263640" y="525780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263640" y="525780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428232" y="525780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7013448" y="533095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Conclusion + Future Work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7013448" y="558698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Results and next steps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BEMS Anomaly Operations Center · ICT Module 4 · Kim Sung-hyun 2021271250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·  PROJECT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Building Energy Anomaly Detection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this problem matters, and how it is solved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03120"/>
            <a:ext cx="539496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2103120"/>
            <a:ext cx="73152" cy="4023360"/>
          </a:xfrm>
          <a:prstGeom prst="rect">
            <a:avLst/>
          </a:prstGeom>
          <a:solidFill>
            <a:srgbClr val="A127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194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6060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smart building's IoT sensor network suffers from wireless interference, inter-floor signal attenuation, and congestion.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33832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127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⚠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43000" y="33832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Packet Loss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143000" y="360273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vanishes in transit, leaving gaps in the analysis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3950208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127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⏱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43000" y="395020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Variable Delay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43000" y="416966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WiFi congestion causes irregular 0.5–3 s delays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4517136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127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📉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43000" y="451713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Sensor Noise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43000" y="47365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 interference adds Gaussian noise to readings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" y="5084064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127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🔥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43000" y="508406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Missed Anomalies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43000" y="530352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Fire, HVAC failure, etc. escalate before the operator notices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63640" y="2103120"/>
            <a:ext cx="539496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63640" y="2103120"/>
            <a:ext cx="73152" cy="4023360"/>
          </a:xfrm>
          <a:prstGeom prst="rect">
            <a:avLst/>
          </a:prstGeom>
          <a:solidFill>
            <a:srgbClr val="1F7A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37960" y="2194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537960" y="26060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Six-Stage Agent Pipeline — 실제 Network degradation를 의도적으로 주입하고, ML로 Recover하고, 룰 엔진으로 Diagnose합니다.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37960" y="33832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903720" y="33832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Recover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03720" y="360273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Linear interpolation fills dropped sequences for a gapless series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537960" y="3950208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903720" y="395020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Detect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903720" y="416966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Z-score · hard threshold · IsolationForest — a 3-detector ensemble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537960" y="4517136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903720" y="451713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Diagnose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03720" y="47365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Match the fired-sensor pattern to 9 rules to infer root cause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537960" y="5084064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903720" y="508406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903720" y="530352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Streamlit 콘솔 — 6탭 Operate 화면과 시나리오 주입 기능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BEMS Anomaly Operations Center · ICT Module 4 · Kim Sung-hyun 2021271250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· 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Six-Stage Agent Pipeline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stage is an independent process; they communicate only over REST.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2331720"/>
            <a:ext cx="16916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2331720"/>
            <a:ext cx="1691640" cy="109728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249631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①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20040" y="30175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Generator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0040" y="331927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Sensor simulation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rot="5400000">
            <a:off x="2048256" y="2926080"/>
            <a:ext cx="201168" cy="182880"/>
          </a:xfrm>
          <a:prstGeom prst="rtTriangle">
            <a:avLst/>
          </a:prstGeom>
          <a:solidFill>
            <a:srgbClr val="4252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86000" y="2331720"/>
            <a:ext cx="16916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286000" y="2331720"/>
            <a:ext cx="1691640" cy="109728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286000" y="249631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②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2286000" y="30175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Transmitter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286000" y="331927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Network degradation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rot="5400000">
            <a:off x="4014216" y="2926080"/>
            <a:ext cx="201168" cy="182880"/>
          </a:xfrm>
          <a:prstGeom prst="rtTriangle">
            <a:avLst/>
          </a:prstGeom>
          <a:solidFill>
            <a:srgbClr val="4252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51960" y="2331720"/>
            <a:ext cx="16916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251960" y="2331720"/>
            <a:ext cx="1691640" cy="109728"/>
          </a:xfrm>
          <a:prstGeom prst="rect">
            <a:avLst/>
          </a:prstGeom>
          <a:solidFill>
            <a:srgbClr val="6A4C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51960" y="249631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A4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③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4251960" y="30175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251960" y="331927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FastAPI hub + DB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rot="5400000">
            <a:off x="5980176" y="2926080"/>
            <a:ext cx="201168" cy="182880"/>
          </a:xfrm>
          <a:prstGeom prst="rtTriangle">
            <a:avLst/>
          </a:prstGeom>
          <a:solidFill>
            <a:srgbClr val="4252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0" y="2331720"/>
            <a:ext cx="16916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17920" y="2331720"/>
            <a:ext cx="1691640" cy="109728"/>
          </a:xfrm>
          <a:prstGeom prst="rect">
            <a:avLst/>
          </a:prstGeom>
          <a:solidFill>
            <a:srgbClr val="6A4C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0" y="249631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A4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④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6217920" y="30175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 Processor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217920" y="331927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보간 + 이상 Detect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rot="5400000">
            <a:off x="7946136" y="2926080"/>
            <a:ext cx="201168" cy="182880"/>
          </a:xfrm>
          <a:prstGeom prst="rtTriangle">
            <a:avLst/>
          </a:prstGeom>
          <a:solidFill>
            <a:srgbClr val="4252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83880" y="2331720"/>
            <a:ext cx="16916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83880" y="2331720"/>
            <a:ext cx="1691640" cy="109728"/>
          </a:xfrm>
          <a:prstGeom prst="rect">
            <a:avLst/>
          </a:prstGeom>
          <a:solidFill>
            <a:srgbClr val="1F7A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83880" y="249631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⑤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8183880" y="30175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183880" y="331927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룰 엔진 Diagnose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rot="5400000">
            <a:off x="9912096" y="2926080"/>
            <a:ext cx="201168" cy="182880"/>
          </a:xfrm>
          <a:prstGeom prst="rtTriangle">
            <a:avLst/>
          </a:prstGeom>
          <a:solidFill>
            <a:srgbClr val="4252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149840" y="2331720"/>
            <a:ext cx="16916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0149840" y="2331720"/>
            <a:ext cx="1691640" cy="109728"/>
          </a:xfrm>
          <a:prstGeom prst="rect">
            <a:avLst/>
          </a:prstGeom>
          <a:solidFill>
            <a:srgbClr val="1F7A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149840" y="249631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⑥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10149840" y="30175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0149840" y="331927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 콘솔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040" y="4069080"/>
            <a:ext cx="3657600" cy="310896"/>
          </a:xfrm>
          <a:prstGeom prst="rect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0040" y="406908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 GENERATION  &amp;  TRANSPORT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251960" y="4069080"/>
            <a:ext cx="3657600" cy="310896"/>
          </a:xfrm>
          <a:prstGeom prst="rect">
            <a:avLst/>
          </a:prstGeom>
          <a:solidFill>
            <a:srgbClr val="EDE7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251960" y="406908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6A4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INTELLIGENCE  &amp;  PROCESSING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183880" y="4069080"/>
            <a:ext cx="3657600" cy="310896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83880" y="406908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  &amp;  PRESENTATION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02920" y="4937760"/>
            <a:ext cx="111556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777240" y="50292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Design Principles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777240" y="54406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🔌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1143000" y="5440680"/>
            <a:ext cx="3124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 API comms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143000" y="5715000"/>
            <a:ext cx="3124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Loose coupling — agents can be swapped or distributed individually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4312920" y="54406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💾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4678680" y="5440680"/>
            <a:ext cx="3124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SQLite persistence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4678680" y="5715000"/>
            <a:ext cx="3124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WAL mode for concurrent read/write · data survives restart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7848600" y="54406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⚙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8214360" y="5440680"/>
            <a:ext cx="3124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worker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8214360" y="5715000"/>
            <a:ext cx="3124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 pushes every 1 s — no dependence on dashboard polling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BEMS Anomaly Operations Center · ICT Module 4 · Kim Sung-hyun 2021271250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·  TECH 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Stack &amp; Code Stats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pure rule-engine implementation — no external LLM dependency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03120"/>
            <a:ext cx="694944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22677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LAYER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40280" y="22677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26280" y="22677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USAGE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2560320"/>
            <a:ext cx="649224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670048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Language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240280" y="26700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3.11+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26280" y="267004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Modern Python with type hints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31520" y="3127248"/>
            <a:ext cx="6492240" cy="4572"/>
          </a:xfrm>
          <a:prstGeom prst="rect">
            <a:avLst/>
          </a:prstGeom>
          <a:solidFill>
            <a:srgbClr val="F1F2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172968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comms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240280" y="3172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 · httpx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26280" y="317296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 API · auto OpenAPI docs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31520" y="3630168"/>
            <a:ext cx="6492240" cy="4572"/>
          </a:xfrm>
          <a:prstGeom prst="rect">
            <a:avLst/>
          </a:prstGeom>
          <a:solidFill>
            <a:srgbClr val="F1F2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3675888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Persistence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40280" y="367588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SQLite (WAL)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26280" y="367588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Transactions · concurrent read/write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31520" y="4133088"/>
            <a:ext cx="6492240" cy="4572"/>
          </a:xfrm>
          <a:prstGeom prst="rect">
            <a:avLst/>
          </a:prstGeom>
          <a:solidFill>
            <a:srgbClr val="F1F2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178808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/ ML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240280" y="417880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NumPy · pandas · scikit-learn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26280" y="417880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Rolling window · IsolationForest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31520" y="4636008"/>
            <a:ext cx="6492240" cy="4572"/>
          </a:xfrm>
          <a:prstGeom prst="rect">
            <a:avLst/>
          </a:prstGeom>
          <a:solidFill>
            <a:srgbClr val="F1F2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4681728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240280" y="46817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Streamlit + Plotly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26280" y="468172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refresh · interactive charts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31520" y="5138928"/>
            <a:ext cx="6492240" cy="4572"/>
          </a:xfrm>
          <a:prstGeom prst="rect">
            <a:avLst/>
          </a:prstGeom>
          <a:solidFill>
            <a:srgbClr val="F1F2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" y="5184648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Testing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240280" y="51846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26280" y="518464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 cases · incl. deadlock regression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31520" y="5641848"/>
            <a:ext cx="6492240" cy="4572"/>
          </a:xfrm>
          <a:prstGeom prst="rect">
            <a:avLst/>
          </a:prstGeom>
          <a:solidFill>
            <a:srgbClr val="F1F2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5687568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Version control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240280" y="56875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26280" y="568756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7726680" y="2103120"/>
            <a:ext cx="39319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726680" y="2103120"/>
            <a:ext cx="73152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955280" y="21031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2,792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941832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Lines of Code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726680" y="2788920"/>
            <a:ext cx="39319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7726680" y="2788920"/>
            <a:ext cx="73152" cy="640080"/>
          </a:xfrm>
          <a:prstGeom prst="rect">
            <a:avLst/>
          </a:prstGeom>
          <a:solidFill>
            <a:srgbClr val="6A4C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955280" y="27889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9418320" y="2788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726680" y="3474720"/>
            <a:ext cx="39319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7726680" y="3474720"/>
            <a:ext cx="73152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955280" y="3474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9418320" y="3474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Zones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726680" y="4160520"/>
            <a:ext cx="39319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7726680" y="4160520"/>
            <a:ext cx="73152" cy="640080"/>
          </a:xfrm>
          <a:prstGeom prst="rect">
            <a:avLst/>
          </a:prstGeom>
          <a:solidFill>
            <a:srgbClr val="6A4C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955280" y="41605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9418320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 Detectors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7726680" y="4846320"/>
            <a:ext cx="39319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7726680" y="4846320"/>
            <a:ext cx="73152" cy="640080"/>
          </a:xfrm>
          <a:prstGeom prst="rect">
            <a:avLst/>
          </a:prstGeom>
          <a:solidFill>
            <a:srgbClr val="1F7A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955280" y="48463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2200" dirty="0"/>
          </a:p>
        </p:txBody>
      </p:sp>
      <p:sp>
        <p:nvSpPr>
          <p:cNvPr id="57" name="Text 55"/>
          <p:cNvSpPr/>
          <p:nvPr/>
        </p:nvSpPr>
        <p:spPr>
          <a:xfrm>
            <a:off x="9418320" y="48463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 Rules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7726680" y="5532120"/>
            <a:ext cx="39319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7726680" y="5532120"/>
            <a:ext cx="73152" cy="640080"/>
          </a:xfrm>
          <a:prstGeom prst="rect">
            <a:avLst/>
          </a:prstGeom>
          <a:solidFill>
            <a:srgbClr val="1F7A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955280" y="55321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2200" dirty="0"/>
          </a:p>
        </p:txBody>
      </p:sp>
      <p:sp>
        <p:nvSpPr>
          <p:cNvPr id="61" name="Text 59"/>
          <p:cNvSpPr/>
          <p:nvPr/>
        </p:nvSpPr>
        <p:spPr>
          <a:xfrm>
            <a:off x="9418320" y="5532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Pytest Cases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BEMS Anomaly Operations Center · ICT Module 4 · Kim Sung-hyun 2021271250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·  DATA  GENERATION  +  TRANSPORT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1 · Generator   ▸   Stage 2 · Transmitter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Synthesize sensor data, then deliberately inject real-world network degradation.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03120"/>
            <a:ext cx="539496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2103120"/>
            <a:ext cx="73152" cy="420624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①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234440" y="21945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Generator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34440" y="25146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src/agents/generator.py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28803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Synthesizes 4-channel BEMS sensors for 3 zones every second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" y="32461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SENSOR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788920" y="32461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NORMAL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069080" y="32461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ANOMALY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77240" y="353872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 (kW)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788920" y="353872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– 5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69080" y="35387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127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8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383133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Temperature (°C)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788920" y="38313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– 26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069080" y="383133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127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30  /  &lt; 15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40" y="412394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Humidity (%)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788920" y="412394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– 60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069080" y="412394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127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75  /  &lt; 25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7240" y="44165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CO₂ (ppm)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788920" y="44165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 – 800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069080" y="441655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127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1200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77240" y="4709160"/>
            <a:ext cx="4937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Daily occupancy cycle (sin) + Gaussian noise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Every sample carries a ground-truth label (is_anomaly, scenario)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4% chance to auto-inject one of 5 scenarios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63640" y="2103120"/>
            <a:ext cx="539496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263640" y="2103120"/>
            <a:ext cx="73152" cy="420624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②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6995160" y="21945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Transmitter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6995160" y="25146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src/agents/transmitter.py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37960" y="28803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Takes Generator samples, deliberately degrades them, forwards to Collector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537960" y="3246120"/>
            <a:ext cx="4892040" cy="77724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29400" y="329184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127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⏱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7040880" y="3319272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Transmission Delay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040880" y="3557016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 – 1.5 s random delay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040880" y="3776472"/>
            <a:ext cx="434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Simulates WiFi congestion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537960" y="4160520"/>
            <a:ext cx="4892040" cy="77724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29400" y="420624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127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✖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7040880" y="4233672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Packet Drop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040880" y="4471416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Drops 10% of packets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7040880" y="4690872"/>
            <a:ext cx="434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Simulates inter-floor attenuation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537960" y="5074920"/>
            <a:ext cx="4892040" cy="77724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29400" y="512064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127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7040880" y="5148072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Sensor Noise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040880" y="5385816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Gaussian noise × 1.2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7040880" y="5605272"/>
            <a:ext cx="434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Simulates EM interference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BEMS Anomaly Operations Center · ICT Module 4 · Kim Sung-hyun 2021271250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 ·  STAGE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Collector — FastAPI Hub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entry point for all data, the persistent store, and the host of the background worker.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03120"/>
            <a:ext cx="640080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219456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 API · /docs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4688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http://127.0.0.1:8000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77240" y="2871216"/>
            <a:ext cx="647395" cy="237744"/>
          </a:xfrm>
          <a:prstGeom prst="rect">
            <a:avLst/>
          </a:prstGeom>
          <a:solidFill>
            <a:srgbClr val="EDE7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871216"/>
            <a:ext cx="6473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6A4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4630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/truth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28346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Generator's clean sample (for evaluation)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77240" y="3182112"/>
            <a:ext cx="647395" cy="237744"/>
          </a:xfrm>
          <a:prstGeom prst="rect">
            <a:avLst/>
          </a:prstGeom>
          <a:solidFill>
            <a:srgbClr val="EDE7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182112"/>
            <a:ext cx="6473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6A4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463040" y="31455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/ingest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83280" y="314553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Transmitter's degraded packet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77240" y="3493008"/>
            <a:ext cx="647395" cy="237744"/>
          </a:xfrm>
          <a:prstGeom prst="rect">
            <a:avLst/>
          </a:prstGeom>
          <a:solidFill>
            <a:srgbClr val="EDE7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493008"/>
            <a:ext cx="6473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6A4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463040" y="3456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/inject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383280" y="34564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scenario or custom sample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77240" y="3803904"/>
            <a:ext cx="647395" cy="237744"/>
          </a:xfrm>
          <a:prstGeom prst="rect">
            <a:avLst/>
          </a:prstGeom>
          <a:solidFill>
            <a:srgbClr val="FD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3803904"/>
            <a:ext cx="6473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A127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463040" y="37673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/reset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383280" y="37673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 저장소 초기화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77240" y="4114800"/>
            <a:ext cx="554126" cy="237744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4114800"/>
            <a:ext cx="5541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463040" y="40782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/raw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383280" y="407822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Buffered readings + missing-seq list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77240" y="4425696"/>
            <a:ext cx="554126" cy="237744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4425696"/>
            <a:ext cx="5541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463040" y="4389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/processed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383280" y="4389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 Recover + 이상 플래그 프레임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77240" y="4736592"/>
            <a:ext cx="554126" cy="237744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7240" y="4736592"/>
            <a:ext cx="5541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463040" y="470001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/decisions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383280" y="470001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Severity + diagnosis + action history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77240" y="5047488"/>
            <a:ext cx="554126" cy="237744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77240" y="5047488"/>
            <a:ext cx="5541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463040" y="50109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/stats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383280" y="50109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Per-zone packet stats + worker state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7240" y="5358384"/>
            <a:ext cx="554126" cy="237744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7240" y="5358384"/>
            <a:ext cx="5541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463040" y="53218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/evaluation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383280" y="53218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보간 MAE + Detect P/R/F1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77240" y="5669280"/>
            <a:ext cx="554126" cy="237744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77240" y="5669280"/>
            <a:ext cx="5541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1463040" y="5632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/scenarios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383280" y="5632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Preset scenario library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777240" y="5980176"/>
            <a:ext cx="554126" cy="237744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7240" y="5980176"/>
            <a:ext cx="5541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1463040" y="5943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/health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3383280" y="59436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Liveness probe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7178040" y="2103120"/>
            <a:ext cx="448056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7178040" y="2103120"/>
            <a:ext cx="73152" cy="1965960"/>
          </a:xfrm>
          <a:prstGeom prst="rect">
            <a:avLst/>
          </a:prstGeom>
          <a:solidFill>
            <a:srgbClr val="6A4C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406640" y="21945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SQLite Store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7406640" y="2468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data/bems.sqlite3  ·  WAL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7406640" y="2834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A4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7635240" y="2834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truth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7680960" y="303580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Generator's original samples (ground truth)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7406640" y="3218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A4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7635240" y="32186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readings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7680960" y="341985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Degraded data sent by the Transmitter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7406640" y="3602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A4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7635240" y="36027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decisions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680960" y="3803904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Severity · diagnosis · action results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178040" y="4206240"/>
            <a:ext cx="448056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7178040" y="4206240"/>
            <a:ext cx="73152" cy="2103120"/>
          </a:xfrm>
          <a:prstGeom prst="rect">
            <a:avLst/>
          </a:prstGeom>
          <a:solidFill>
            <a:srgbClr val="1F7A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06640" y="42976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Worker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7406640" y="4572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s interval · push-based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7406640" y="4892040"/>
            <a:ext cx="4114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Runs Stages 4 + 5 on a background thread. Decisions keep being made and persisted to the DB even when the dashboard is closed.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Processes only new readings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On error, records last_error and keeps running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Shares the store safely via a dedicated lock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BEMS Anomaly Operations Center · ICT Module 4 · Kim Sung-hyun 2021271250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 ·  STAGE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 Processor — Interpolation + 3-Detector Ensemble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Recover the data that was lost, then catch anomalies in what remains.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03120"/>
            <a:ext cx="1115568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226771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2267712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Reindex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88720" y="2560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Fill missing seq rows with NaN to make it continuous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97180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1E4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383280" y="226771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886200" y="2267712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Interpolate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886200" y="2560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Estimate NaN values via linear interpolation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1E4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080760" y="226771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0" y="2267712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Detect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0" y="2560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3 detectors in parallel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6676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1E4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778240" y="226771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81160" y="2267712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Combine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281160" y="2560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 OR Z-score OR IForest → anomaly_any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2920" y="3383280"/>
            <a:ext cx="3535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2920" y="3383280"/>
            <a:ext cx="3535680" cy="502920"/>
          </a:xfrm>
          <a:prstGeom prst="rect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3474720"/>
            <a:ext cx="365760" cy="365760"/>
          </a:xfrm>
          <a:prstGeom prst="ellipse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88720" y="3474720"/>
            <a:ext cx="2758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Robust Z-score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188720" y="3675888"/>
            <a:ext cx="275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Statistical · univariate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31520" y="4069080"/>
            <a:ext cx="3124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Estimates σ robustly via MAD (median absolute deviation). Flags when |z| &gt; 2.5.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31520" y="5166360"/>
            <a:ext cx="30784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52578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Strengths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31520" y="548640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Fast, computed per window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 single outlier won't poison the statistics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312920" y="3383280"/>
            <a:ext cx="3535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312920" y="3383280"/>
            <a:ext cx="3535680" cy="502920"/>
          </a:xfrm>
          <a:prstGeom prst="rect">
            <a:avLst/>
          </a:prstGeom>
          <a:solidFill>
            <a:srgbClr val="FD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41520" y="3474720"/>
            <a:ext cx="365760" cy="365760"/>
          </a:xfrm>
          <a:prstGeom prst="ellipse">
            <a:avLst/>
          </a:prstGeom>
          <a:solidFill>
            <a:srgbClr val="A127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41520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998720" y="3474720"/>
            <a:ext cx="2758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 Threshold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998720" y="3675888"/>
            <a:ext cx="275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Physical-spec based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541520" y="4069080"/>
            <a:ext cx="3124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Directly compares against hard limits from the sensor spec (e.g. power &gt; 8 kW, temp &gt; 30°C).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41520" y="5166360"/>
            <a:ext cx="30784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41520" y="52578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Strengths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41520" y="548640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Explainable, the domain rule as-is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Primary basis for Critical severity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122920" y="3383280"/>
            <a:ext cx="3535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8122920" y="3383280"/>
            <a:ext cx="3535680" cy="502920"/>
          </a:xfrm>
          <a:prstGeom prst="rect">
            <a:avLst/>
          </a:prstGeom>
          <a:solidFill>
            <a:srgbClr val="EDE7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351520" y="3474720"/>
            <a:ext cx="365760" cy="365760"/>
          </a:xfrm>
          <a:prstGeom prst="ellipse">
            <a:avLst/>
          </a:prstGeom>
          <a:solidFill>
            <a:srgbClr val="6A4C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51520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8808720" y="3474720"/>
            <a:ext cx="2758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IsolationForest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8808720" y="3675888"/>
            <a:ext cx="275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Multivariate · ML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8351520" y="4069080"/>
            <a:ext cx="3124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scikit-learn IsolationForest, contamination=0.05. Flags abnormal multi-sensor patterns.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8351520" y="5166360"/>
            <a:ext cx="30784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351520" y="52578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Strengths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8351520" y="548640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Catches patterns no single sensor can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n_estimators=80 · trained per zone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BEMS Anomaly Operations Center · ICT Module 4 · Kim Sung-hyun 2021271250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 ·  STAGE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 — Deterministic Rule Engine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Matches which sensors fired in which direction to infer the root cause.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03120"/>
            <a:ext cx="111556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2194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SEVERITY CLASSIFICATION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2542032"/>
            <a:ext cx="1097280" cy="384048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5420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Normal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984248" y="2542032"/>
            <a:ext cx="225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trigger fired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12920" y="2542032"/>
            <a:ext cx="1097280" cy="384048"/>
          </a:xfrm>
          <a:prstGeom prst="rect">
            <a:avLst/>
          </a:prstGeom>
          <a:solidFill>
            <a:srgbClr val="FFF4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12920" y="25420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9A5B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Warning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519928" y="2542032"/>
            <a:ext cx="225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Z-score or IForest fired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848600" y="2542032"/>
            <a:ext cx="1097280" cy="384048"/>
          </a:xfrm>
          <a:prstGeom prst="rect">
            <a:avLst/>
          </a:prstGeom>
          <a:solidFill>
            <a:srgbClr val="FD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48600" y="25420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A127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055608" y="2542032"/>
            <a:ext cx="225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Hard-limit breach  or  |z| &gt; 4.0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246120"/>
            <a:ext cx="111556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77240" y="333756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RULE ENGINE  ·  9 rules, matched top-down, first match wins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77240" y="36576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RULE ID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148840" y="36576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REQUIRED SIGNALS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26280" y="3657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FORBIDDEN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989320" y="36576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DIAGNOSIS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8732520" y="36576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RECOMMENDED ACTION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77240" y="3931920"/>
            <a:ext cx="1060704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023360"/>
            <a:ext cx="13716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fire_risk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148840" y="4023360"/>
            <a:ext cx="23774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temp↑ + co2↑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526280" y="4023360"/>
            <a:ext cx="14630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humidity↑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989320" y="4023360"/>
            <a:ext cx="2743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Possible fire / thermal event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8732520" y="4023360"/>
            <a:ext cx="310896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 smoke detectors, dispatch inspection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777240" y="4251960"/>
            <a:ext cx="10607040" cy="3658"/>
          </a:xfrm>
          <a:prstGeom prst="rect">
            <a:avLst/>
          </a:prstGeom>
          <a:solidFill>
            <a:srgbClr val="F4F5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4256532"/>
            <a:ext cx="13716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hvac_failure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2148840" y="4256532"/>
            <a:ext cx="23774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temp↑ + humidity↑ + co2↑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526280" y="4256532"/>
            <a:ext cx="14630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5989320" y="4256532"/>
            <a:ext cx="2743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HVAC cooling failure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8732520" y="4256532"/>
            <a:ext cx="310896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Inspect chiller, switch to backup AHU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77240" y="4485132"/>
            <a:ext cx="10607040" cy="3658"/>
          </a:xfrm>
          <a:prstGeom prst="rect">
            <a:avLst/>
          </a:prstGeom>
          <a:solidFill>
            <a:srgbClr val="F4F5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7240" y="4489704"/>
            <a:ext cx="13716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peak_load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2148840" y="4489704"/>
            <a:ext cx="23774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power↑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526280" y="4489704"/>
            <a:ext cx="14630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temp↑, co2↑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989320" y="4489704"/>
            <a:ext cx="2743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Peak power load event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732520" y="4489704"/>
            <a:ext cx="310896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Identify high-consumption circuit, load shed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777240" y="4718304"/>
            <a:ext cx="10607040" cy="3658"/>
          </a:xfrm>
          <a:prstGeom prst="rect">
            <a:avLst/>
          </a:prstGeom>
          <a:solidFill>
            <a:srgbClr val="F4F5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7240" y="4722876"/>
            <a:ext cx="13716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cold_snap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2148840" y="4722876"/>
            <a:ext cx="23774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temp↓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4526280" y="4722876"/>
            <a:ext cx="14630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5989320" y="4722876"/>
            <a:ext cx="2743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Heating loss / open vent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8732520" y="4722876"/>
            <a:ext cx="310896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heating loop, inspect doors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777240" y="4951476"/>
            <a:ext cx="10607040" cy="3658"/>
          </a:xfrm>
          <a:prstGeom prst="rect">
            <a:avLst/>
          </a:prstGeom>
          <a:solidFill>
            <a:srgbClr val="F4F5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7240" y="4956048"/>
            <a:ext cx="13716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occupancy_spike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2148840" y="4956048"/>
            <a:ext cx="23774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co2↑ + humidity↑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4526280" y="4956048"/>
            <a:ext cx="14630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power↑, temp↑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5989320" y="4956048"/>
            <a:ext cx="2743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Occupancy spike / under-ventilation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8732520" y="4956048"/>
            <a:ext cx="310896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Raise outdoor-air damper set-point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777240" y="5184648"/>
            <a:ext cx="10607040" cy="3658"/>
          </a:xfrm>
          <a:prstGeom prst="rect">
            <a:avLst/>
          </a:prstGeom>
          <a:solidFill>
            <a:srgbClr val="F4F5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77240" y="5189220"/>
            <a:ext cx="13716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humidity_anomaly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148840" y="5189220"/>
            <a:ext cx="23774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humidity↑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4526280" y="5189220"/>
            <a:ext cx="14630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5989320" y="5189220"/>
            <a:ext cx="2743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Humidity anomaly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8732520" y="5189220"/>
            <a:ext cx="310896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dehumidifier, water ingress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777240" y="5417820"/>
            <a:ext cx="10607040" cy="3658"/>
          </a:xfrm>
          <a:prstGeom prst="rect">
            <a:avLst/>
          </a:prstGeom>
          <a:solidFill>
            <a:srgbClr val="F4F5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77240" y="5422392"/>
            <a:ext cx="13716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low_humidity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2148840" y="5422392"/>
            <a:ext cx="23774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humidity↓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4526280" y="5422392"/>
            <a:ext cx="14630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5989320" y="5422392"/>
            <a:ext cx="2743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 humidity / dry air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8732520" y="5422392"/>
            <a:ext cx="310896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Engage humidifier, check steam pressure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777240" y="5650992"/>
            <a:ext cx="10607040" cy="3658"/>
          </a:xfrm>
          <a:prstGeom prst="rect">
            <a:avLst/>
          </a:prstGeom>
          <a:solidFill>
            <a:srgbClr val="F4F5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77240" y="5655564"/>
            <a:ext cx="13716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co2_only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2148840" y="5655564"/>
            <a:ext cx="23774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co2↑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4526280" y="5655564"/>
            <a:ext cx="14630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5989320" y="5655564"/>
            <a:ext cx="2743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Elevated CO₂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8732520" y="5655564"/>
            <a:ext cx="310896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Increase outdoor-air intake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777240" y="5884164"/>
            <a:ext cx="10607040" cy="3658"/>
          </a:xfrm>
          <a:prstGeom prst="rect">
            <a:avLst/>
          </a:prstGeom>
          <a:solidFill>
            <a:srgbClr val="F4F5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77240" y="5888736"/>
            <a:ext cx="13716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temperature_only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2148840" y="5888736"/>
            <a:ext cx="23774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temp↑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4526280" y="5888736"/>
            <a:ext cx="14630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5989320" y="5888736"/>
            <a:ext cx="2743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Temperature drift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8732520" y="5888736"/>
            <a:ext cx="310896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 set-point, inspect VAV box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BEMS Anomaly Operations Center · ICT Module 4 · Kim Sung-hyun 2021271250</a:t>
            </a:r>
            <a:endParaRPr lang="en-US" sz="900" dirty="0"/>
          </a:p>
        </p:txBody>
      </p:sp>
      <p:sp>
        <p:nvSpPr>
          <p:cNvPr id="80" name="Text 78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 ·  STAGE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— Enterprise Operations Console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six-tab Streamlit console that visualizes live data and accepts user input.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03120"/>
            <a:ext cx="359664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2103120"/>
            <a:ext cx="3596640" cy="502920"/>
          </a:xfrm>
          <a:prstGeom prst="rect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2128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43000" y="2194560"/>
            <a:ext cx="277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2788920"/>
            <a:ext cx="3185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health board · 6 service states · decision timeline · per-zone cards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82440" y="2103120"/>
            <a:ext cx="359664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282440" y="2103120"/>
            <a:ext cx="3596640" cy="502920"/>
          </a:xfrm>
          <a:prstGeom prst="rect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65320" y="22128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22520" y="2194560"/>
            <a:ext cx="277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Telemetry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11040" y="2788920"/>
            <a:ext cx="3185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Zone selector · 4-sensor live charts · raw vs interpolated · anomaly overlays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61960" y="2103120"/>
            <a:ext cx="359664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61960" y="2103120"/>
            <a:ext cx="3596640" cy="502920"/>
          </a:xfrm>
          <a:prstGeom prst="rect">
            <a:avLst/>
          </a:prstGeom>
          <a:solidFill>
            <a:srgbClr val="EDE7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44840" y="22128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A4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702040" y="2194560"/>
            <a:ext cx="277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Pipeline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90560" y="2788920"/>
            <a:ext cx="3185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6-agent topology · each agent's status / KPIs / role / source file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4251960"/>
            <a:ext cx="359664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02920" y="4251960"/>
            <a:ext cx="3596640" cy="502920"/>
          </a:xfrm>
          <a:prstGeom prst="rect">
            <a:avLst/>
          </a:prstGeom>
          <a:solidFill>
            <a:srgbClr val="FD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43616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127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4343400"/>
            <a:ext cx="277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31520" y="4937760"/>
            <a:ext cx="3185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Severity · zone 필터 · Diagnose/권고/증거 컬럼 · CSV 내보내기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282440" y="4251960"/>
            <a:ext cx="359664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282440" y="4251960"/>
            <a:ext cx="3596640" cy="502920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65320" y="43616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A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22520" y="4343400"/>
            <a:ext cx="277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Scenario Lab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511040" y="4937760"/>
            <a:ext cx="3185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One-click inject of 5 presets · custom sensor-value form · recent injections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061960" y="4251960"/>
            <a:ext cx="359664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061960" y="4251960"/>
            <a:ext cx="3596640" cy="502920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44840" y="43616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A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702040" y="4343400"/>
            <a:ext cx="277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Metrics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290560" y="4937760"/>
            <a:ext cx="3185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Interpolation MAE table · 4-detector P/R/F1 table · F1 comparison bars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BEMS Anomaly Operations Center · ICT Module 4 · Kim Sung-hyun 2021271250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  TOUR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Operations  &amp;  Alerts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two screens operators use to monitor the system and act on alerts.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03120"/>
            <a:ext cx="539496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2194560"/>
            <a:ext cx="521208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267712"/>
            <a:ext cx="256032" cy="256032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2677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05840" y="2267712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BEMS · Anomaly Operations Center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00600" y="2286000"/>
            <a:ext cx="833933" cy="237744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2286000"/>
            <a:ext cx="83393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OK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94360" y="2697480"/>
            <a:ext cx="521208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24912"/>
            <a:ext cx="853440" cy="237744"/>
          </a:xfrm>
          <a:prstGeom prst="rect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24912"/>
            <a:ext cx="85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493520" y="2724912"/>
            <a:ext cx="85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Telemetry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346960" y="2724912"/>
            <a:ext cx="85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Pipeline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200400" y="2724912"/>
            <a:ext cx="85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053840" y="2724912"/>
            <a:ext cx="85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907280" y="2724912"/>
            <a:ext cx="85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Metrics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640080" y="3108960"/>
            <a:ext cx="79248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154680"/>
            <a:ext cx="79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ZONES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640080" y="3337560"/>
            <a:ext cx="79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1478280" y="3108960"/>
            <a:ext cx="79248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478280" y="3154680"/>
            <a:ext cx="79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PACKETS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478280" y="3337560"/>
            <a:ext cx="79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847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316480" y="3108960"/>
            <a:ext cx="79248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316480" y="3154680"/>
            <a:ext cx="79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LOSS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2316480" y="3337560"/>
            <a:ext cx="79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5B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11%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154680" y="3108960"/>
            <a:ext cx="79248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154680" y="3154680"/>
            <a:ext cx="79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DECISIONS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3154680" y="3337560"/>
            <a:ext cx="79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4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823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992880" y="3108960"/>
            <a:ext cx="79248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992880" y="3154680"/>
            <a:ext cx="79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3992880" y="3337560"/>
            <a:ext cx="79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127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831080" y="3108960"/>
            <a:ext cx="79248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31080" y="3154680"/>
            <a:ext cx="79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WARNING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4831080" y="3337560"/>
            <a:ext cx="79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5B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40080" y="38862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Services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40080" y="4160520"/>
            <a:ext cx="512064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E1E4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416052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Generator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709160" y="4178808"/>
            <a:ext cx="1005840" cy="201168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09160" y="417880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640080" y="4434840"/>
            <a:ext cx="512064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E1E4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31520" y="44348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Transmitter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709160" y="4453128"/>
            <a:ext cx="1005840" cy="201168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709160" y="445312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40080" y="4709160"/>
            <a:ext cx="512064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E1E4E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31520" y="470916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Collector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709160" y="4727448"/>
            <a:ext cx="1005840" cy="201168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709160" y="47274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40080" y="4983480"/>
            <a:ext cx="512064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E1E4E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1520" y="49834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 Processor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709160" y="5001768"/>
            <a:ext cx="1005840" cy="201168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709160" y="500176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640080" y="5257800"/>
            <a:ext cx="512064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E1E4E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1520" y="525780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709160" y="5276088"/>
            <a:ext cx="1005840" cy="201168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09160" y="52760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640080" y="5532120"/>
            <a:ext cx="512064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E1E4E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31520" y="553212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4709160" y="5550408"/>
            <a:ext cx="1005840" cy="201168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709160" y="555040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</a:t>
            </a:r>
            <a:endParaRPr lang="en-US" sz="750" dirty="0"/>
          </a:p>
        </p:txBody>
      </p:sp>
      <p:sp>
        <p:nvSpPr>
          <p:cNvPr id="64" name="Text 62"/>
          <p:cNvSpPr/>
          <p:nvPr/>
        </p:nvSpPr>
        <p:spPr>
          <a:xfrm>
            <a:off x="502920" y="182880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 #1  —  Operations View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6263640" y="2103120"/>
            <a:ext cx="539496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6355080" y="2194560"/>
            <a:ext cx="521208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446520" y="2267712"/>
            <a:ext cx="256032" cy="256032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46520" y="22677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6766560" y="2267712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BEMS · Anomaly Operations Center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10561320" y="2286000"/>
            <a:ext cx="833933" cy="237744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0561320" y="2286000"/>
            <a:ext cx="83393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OK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6355080" y="2697480"/>
            <a:ext cx="521208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400800" y="2724912"/>
            <a:ext cx="85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Operations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7254240" y="2724912"/>
            <a:ext cx="85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Telemetry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8107680" y="2724912"/>
            <a:ext cx="85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Pipeline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961120" y="2724912"/>
            <a:ext cx="853440" cy="237744"/>
          </a:xfrm>
          <a:prstGeom prst="rect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8961120" y="2724912"/>
            <a:ext cx="85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Alerts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9814560" y="2724912"/>
            <a:ext cx="85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10668000" y="2724912"/>
            <a:ext cx="85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Metrics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6263640" y="182880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 #4  —  Alerts Feed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00800" y="3108960"/>
            <a:ext cx="51206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400800" y="3108960"/>
            <a:ext cx="45720" cy="621792"/>
          </a:xfrm>
          <a:prstGeom prst="rect">
            <a:avLst/>
          </a:prstGeom>
          <a:solidFill>
            <a:srgbClr val="A127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10528" y="3145536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14:23:05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6510528" y="3337560"/>
            <a:ext cx="822960" cy="201168"/>
          </a:xfrm>
          <a:prstGeom prst="rect">
            <a:avLst/>
          </a:prstGeom>
          <a:solidFill>
            <a:srgbClr val="FD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510528" y="33375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A127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</a:t>
            </a:r>
            <a:endParaRPr lang="en-US" sz="750" dirty="0"/>
          </a:p>
        </p:txBody>
      </p:sp>
      <p:sp>
        <p:nvSpPr>
          <p:cNvPr id="86" name="Text 84"/>
          <p:cNvSpPr/>
          <p:nvPr/>
        </p:nvSpPr>
        <p:spPr>
          <a:xfrm>
            <a:off x="6510528" y="354787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Zone-A · seq 33</a:t>
            </a:r>
            <a:endParaRPr lang="en-US" sz="750" dirty="0"/>
          </a:p>
        </p:txBody>
      </p:sp>
      <p:sp>
        <p:nvSpPr>
          <p:cNvPr id="87" name="Text 85"/>
          <p:cNvSpPr/>
          <p:nvPr/>
        </p:nvSpPr>
        <p:spPr>
          <a:xfrm>
            <a:off x="7589520" y="3163824"/>
            <a:ext cx="3886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Possible fire / thermal event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589520" y="338328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Verify smoke detectors; dispatch on-site inspection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6400800" y="3785616"/>
            <a:ext cx="51206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400800" y="3785616"/>
            <a:ext cx="45720" cy="621792"/>
          </a:xfrm>
          <a:prstGeom prst="rect">
            <a:avLst/>
          </a:prstGeom>
          <a:solidFill>
            <a:srgbClr val="A127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510528" y="382219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14:23:04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6510528" y="4014216"/>
            <a:ext cx="822960" cy="201168"/>
          </a:xfrm>
          <a:prstGeom prst="rect">
            <a:avLst/>
          </a:prstGeom>
          <a:solidFill>
            <a:srgbClr val="FD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510528" y="40142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A127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</a:t>
            </a:r>
            <a:endParaRPr lang="en-US" sz="750" dirty="0"/>
          </a:p>
        </p:txBody>
      </p:sp>
      <p:sp>
        <p:nvSpPr>
          <p:cNvPr id="94" name="Text 92"/>
          <p:cNvSpPr/>
          <p:nvPr/>
        </p:nvSpPr>
        <p:spPr>
          <a:xfrm>
            <a:off x="6510528" y="422452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Zone-B · seq 28</a:t>
            </a:r>
            <a:endParaRPr lang="en-US" sz="750" dirty="0"/>
          </a:p>
        </p:txBody>
      </p:sp>
      <p:sp>
        <p:nvSpPr>
          <p:cNvPr id="95" name="Text 93"/>
          <p:cNvSpPr/>
          <p:nvPr/>
        </p:nvSpPr>
        <p:spPr>
          <a:xfrm>
            <a:off x="7589520" y="3840480"/>
            <a:ext cx="3886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HVAC cooling failure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7589520" y="4059936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Inspect chiller, switch to backup AHU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6400800" y="4462272"/>
            <a:ext cx="51206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400800" y="4462272"/>
            <a:ext cx="45720" cy="621792"/>
          </a:xfrm>
          <a:prstGeom prst="rect">
            <a:avLst/>
          </a:prstGeom>
          <a:solidFill>
            <a:srgbClr val="9A5B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510528" y="449884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14:23:03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6510528" y="4690872"/>
            <a:ext cx="822960" cy="201168"/>
          </a:xfrm>
          <a:prstGeom prst="rect">
            <a:avLst/>
          </a:prstGeom>
          <a:solidFill>
            <a:srgbClr val="FFF4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510528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9A5B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WARNING</a:t>
            </a:r>
            <a:endParaRPr lang="en-US" sz="750" dirty="0"/>
          </a:p>
        </p:txBody>
      </p:sp>
      <p:sp>
        <p:nvSpPr>
          <p:cNvPr id="102" name="Text 100"/>
          <p:cNvSpPr/>
          <p:nvPr/>
        </p:nvSpPr>
        <p:spPr>
          <a:xfrm>
            <a:off x="6510528" y="490118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Zone-C · seq 44</a:t>
            </a:r>
            <a:endParaRPr lang="en-US" sz="750" dirty="0"/>
          </a:p>
        </p:txBody>
      </p:sp>
      <p:sp>
        <p:nvSpPr>
          <p:cNvPr id="103" name="Text 101"/>
          <p:cNvSpPr/>
          <p:nvPr/>
        </p:nvSpPr>
        <p:spPr>
          <a:xfrm>
            <a:off x="7589520" y="4517136"/>
            <a:ext cx="3886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Occupancy spike / under-ventilation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7589520" y="473659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Raise outdoor-air damper set-point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6400800" y="5138928"/>
            <a:ext cx="51206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6400800" y="5138928"/>
            <a:ext cx="45720" cy="621792"/>
          </a:xfrm>
          <a:prstGeom prst="rect">
            <a:avLst/>
          </a:prstGeom>
          <a:solidFill>
            <a:srgbClr val="9A5B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6510528" y="517550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14:23:02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510528" y="5367528"/>
            <a:ext cx="822960" cy="201168"/>
          </a:xfrm>
          <a:prstGeom prst="rect">
            <a:avLst/>
          </a:prstGeom>
          <a:solidFill>
            <a:srgbClr val="FFF4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6510528" y="53675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9A5B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WARNING</a:t>
            </a:r>
            <a:endParaRPr lang="en-US" sz="750" dirty="0"/>
          </a:p>
        </p:txBody>
      </p:sp>
      <p:sp>
        <p:nvSpPr>
          <p:cNvPr id="110" name="Text 108"/>
          <p:cNvSpPr/>
          <p:nvPr/>
        </p:nvSpPr>
        <p:spPr>
          <a:xfrm>
            <a:off x="6510528" y="5577840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Zone-A · seq 31</a:t>
            </a:r>
            <a:endParaRPr lang="en-US" sz="750" dirty="0"/>
          </a:p>
        </p:txBody>
      </p:sp>
      <p:sp>
        <p:nvSpPr>
          <p:cNvPr id="111" name="Text 109"/>
          <p:cNvSpPr/>
          <p:nvPr/>
        </p:nvSpPr>
        <p:spPr>
          <a:xfrm>
            <a:off x="7589520" y="5193792"/>
            <a:ext cx="3886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Temperature drift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7589520" y="541324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Verify set-point, inspect VAV box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BEMS Anomaly Operations Center · ICT Module 4 · Kim Sung-hyun 2021271250</a:t>
            </a:r>
            <a:endParaRPr lang="en-US" sz="900" dirty="0"/>
          </a:p>
        </p:txBody>
      </p:sp>
      <p:sp>
        <p:nvSpPr>
          <p:cNvPr id="115" name="Text 113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  TOUR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Scenario Lab  &amp;  Quality Metrics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Inject scenarios yourself and evaluate system quality quantitatively.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82880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 #5  —  Scenario Lab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2103120"/>
            <a:ext cx="539496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2677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Scenario Lab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560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Controlled Fault Injection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5800" y="28346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Push synthetic samples into the pipeline to validate runbooks. Injected samples are labelled as ground-truth anomalies.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85800" y="3474720"/>
            <a:ext cx="502920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74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🔥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52958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fire_risk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280160" y="367588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Fire Risk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09160" y="3547872"/>
            <a:ext cx="914400" cy="27432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09160" y="35478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Inject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85800" y="3977640"/>
            <a:ext cx="502920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9776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❄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80160" y="4032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hvac_failure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280160" y="417880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HVAC Failure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09160" y="4050792"/>
            <a:ext cx="914400" cy="27432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09160" y="40507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Inject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85800" y="4480560"/>
            <a:ext cx="502920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4805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280160" y="453542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peak_load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280160" y="468172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Peak Power Load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709160" y="4553712"/>
            <a:ext cx="914400" cy="27432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09160" y="45537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Inject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85800" y="4983480"/>
            <a:ext cx="502920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49834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🧊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80160" y="50383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cold_snap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280160" y="518464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Cold Snap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709160" y="5056632"/>
            <a:ext cx="914400" cy="27432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09160" y="50566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Inject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85800" y="5486400"/>
            <a:ext cx="502920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77240" y="548640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👥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280160" y="55412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occupancy_spike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280160" y="568756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Occupancy Spike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709160" y="5559552"/>
            <a:ext cx="914400" cy="27432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09160" y="55595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Inject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263640" y="182880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 #6  —  Quality Metrics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263640" y="2103120"/>
            <a:ext cx="539496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6446520" y="22677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Metrics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446520" y="2560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Evaluation against ground-truth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446520" y="288036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Interpolation MAE  ·  recovered seqs only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446520" y="31546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SENSOR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8001000" y="315468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8732520" y="315468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MAE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6446520" y="341071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8001000" y="341071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kW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8732520" y="341071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0.31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6446520" y="366674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temperature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8001000" y="3666744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°C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8732520" y="3666744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0.24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446520" y="3922776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humidity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8001000" y="392277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8732520" y="392277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1.45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6446520" y="417880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co2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8001000" y="41788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ppm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8732520" y="41788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11.8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6446520" y="46177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Detection F1  ·  vs ground-truth labels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446520" y="489204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zscore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726680" y="4937760"/>
            <a:ext cx="3291840" cy="146304"/>
          </a:xfrm>
          <a:prstGeom prst="rect">
            <a:avLst/>
          </a:prstGeom>
          <a:solidFill>
            <a:srgbClr val="F5F7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26680" y="4937760"/>
            <a:ext cx="2370125" cy="146304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1064240" y="489204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0.72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6446520" y="516636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hard_threshold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726680" y="5212080"/>
            <a:ext cx="3291840" cy="146304"/>
          </a:xfrm>
          <a:prstGeom prst="rect">
            <a:avLst/>
          </a:prstGeom>
          <a:solidFill>
            <a:srgbClr val="F5F7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726680" y="5212080"/>
            <a:ext cx="2995574" cy="146304"/>
          </a:xfrm>
          <a:prstGeom prst="rect">
            <a:avLst/>
          </a:prstGeom>
          <a:solidFill>
            <a:srgbClr val="A127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1064240" y="516636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0.91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6446520" y="544068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iforest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7726680" y="5486400"/>
            <a:ext cx="3291840" cy="146304"/>
          </a:xfrm>
          <a:prstGeom prst="rect">
            <a:avLst/>
          </a:prstGeom>
          <a:solidFill>
            <a:srgbClr val="F5F7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726680" y="5486400"/>
            <a:ext cx="2238451" cy="146304"/>
          </a:xfrm>
          <a:prstGeom prst="rect">
            <a:avLst/>
          </a:prstGeom>
          <a:solidFill>
            <a:srgbClr val="6A4C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1064240" y="544068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0.68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6446520" y="57150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7726680" y="5760720"/>
            <a:ext cx="3291840" cy="146304"/>
          </a:xfrm>
          <a:prstGeom prst="rect">
            <a:avLst/>
          </a:prstGeom>
          <a:solidFill>
            <a:srgbClr val="F5F7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726680" y="5760720"/>
            <a:ext cx="3094330" cy="146304"/>
          </a:xfrm>
          <a:prstGeom prst="rect">
            <a:avLst/>
          </a:prstGeom>
          <a:solidFill>
            <a:srgbClr val="1F7A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1064240" y="57150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0.94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BEMS Anomaly Operations Center · ICT Module 4 · Kim Sung-hyun 2021271250</a:t>
            </a:r>
            <a:endParaRPr lang="en-US" sz="900" dirty="0"/>
          </a:p>
        </p:txBody>
      </p:sp>
      <p:sp>
        <p:nvSpPr>
          <p:cNvPr id="80" name="Text 78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  ·  CAPABILITIES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You Can Do With It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Eight things a user can actually do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48840"/>
            <a:ext cx="53949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2331720"/>
            <a:ext cx="502920" cy="502920"/>
          </a:xfrm>
          <a:prstGeom prst="ellipse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📡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2402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monitoring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25880" y="253288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Watch 4-sensor data across 3 zones on 1-second live charts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63640" y="2148840"/>
            <a:ext cx="53949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46520" y="2331720"/>
            <a:ext cx="502920" cy="502920"/>
          </a:xfrm>
          <a:prstGeom prst="ellipse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📦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086600" y="22402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Packet Loss Recover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086600" y="253288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Auto-interpolate the 10% dropped sequences to remove gaps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154680"/>
            <a:ext cx="53949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85800" y="3337560"/>
            <a:ext cx="502920" cy="502920"/>
          </a:xfrm>
          <a:prstGeom prst="ellipse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337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25880" y="32461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다중 Detect기 비교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325880" y="353872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 Z-score · hard threshold · IsolationForest together and compare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63640" y="3154680"/>
            <a:ext cx="53949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46520" y="3337560"/>
            <a:ext cx="502920" cy="502920"/>
          </a:xfrm>
          <a:prstGeom prst="ellipse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337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🧠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086600" y="32461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Automatic root-cause inference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86600" y="353872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9개 룰을 매칭하여 어떤 유형의 사고인지 Diagnose + 권고 조치 출력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02920" y="4160520"/>
            <a:ext cx="53949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85800" y="4343400"/>
            <a:ext cx="502920" cy="502920"/>
          </a:xfrm>
          <a:prstGeom prst="ellipse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343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🧪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325880" y="4251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시나리오 주입 Testing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325880" y="454456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One-click 5 presets (fire/HVAC/peak/cold/occupancy), or enter custom values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63640" y="4160520"/>
            <a:ext cx="53949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446520" y="4343400"/>
            <a:ext cx="502920" cy="502920"/>
          </a:xfrm>
          <a:prstGeom prst="ellipse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46520" y="4343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📐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086600" y="4251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Quantitative quality evaluation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086600" y="454456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Compare interpolation MAE and each detector's P/R/F1 against ground truth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02920" y="5166360"/>
            <a:ext cx="53949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85800" y="5349240"/>
            <a:ext cx="502920" cy="502920"/>
          </a:xfrm>
          <a:prstGeom prst="ellipse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" y="5349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📤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52578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 export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325880" y="555040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필터링한 알림 목록을 CSV로 다운로드 (Operate 보고서 생성)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63640" y="5166360"/>
            <a:ext cx="53949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446520" y="5349240"/>
            <a:ext cx="502920" cy="502920"/>
          </a:xfrm>
          <a:prstGeom prst="ellipse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46520" y="5349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🗄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7086600" y="52578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데이터 Persistence 및 리셋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7086600" y="555040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SQLite keeps history across restarts; one-click reset in the sidebar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BEMS Anomaly Operations Center · ICT Module 4 · Kim Sung-hyun 2021271250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6C4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 ·  CONCLUSION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77724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Achievements &amp; Future Work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5349240" cy="3840480"/>
          </a:xfrm>
          <a:prstGeom prst="rect">
            <a:avLst/>
          </a:prstGeom>
          <a:solidFill>
            <a:srgbClr val="1A2A5E"/>
          </a:solidFill>
          <a:ln w="12700">
            <a:solidFill>
              <a:srgbClr val="1F5D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ACHIEVED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4688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project achieved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43000" y="292608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Six-Stage Agent Pipeline — 모두 독립 프로세스로 분리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29184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43000" y="329184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10% Packet Loss + 0.2–1.5s 지연 환경에서 시계열 무결성 유지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365760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43000" y="365760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3-detector ensemble catches both univariate and multivariate anomalies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402336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43000" y="402336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9개 룰 엔진으로 결정론적·감사 가능한 Diagnose (블랙박스 X)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438912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43000" y="438912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엔터프라이즈 톤의 6탭 Operate 콘솔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475488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43000" y="475488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Pytest 24개 — 데드락 회귀 Testing 포함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" y="512064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43000" y="512064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Built-in P/R/F1 evaluation against ground-truth labels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09360" y="1920240"/>
            <a:ext cx="5349240" cy="3840480"/>
          </a:xfrm>
          <a:prstGeom prst="rect">
            <a:avLst/>
          </a:prstGeom>
          <a:solidFill>
            <a:srgbClr val="1A2A5E"/>
          </a:solidFill>
          <a:ln w="12700">
            <a:solidFill>
              <a:srgbClr val="6A4C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5B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24688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it goes next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629400" y="292608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4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949440" y="292608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Fit distributions to the real ASHRAE dataset (currently a sin approximation)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629400" y="329184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4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49440" y="329184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 a time-series model — compare LSTM/AR against IsolationForest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629400" y="365760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4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949440" y="365760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push over WebSocket (currently polling)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629400" y="402336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4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49440" y="402336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Multi-site expansion and role separation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629400" y="438912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4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949440" y="438912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 delivery channels — Slack / email / pager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629400" y="475488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4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49440" y="475488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Grafana / Prometheus metrics export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629400" y="512064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4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949440" y="512064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authentication (/ingest is currently open)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02920" y="6126480"/>
            <a:ext cx="11155680" cy="4114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2920" y="61264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  ·  Q &amp; A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0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BEMS Anomaly Operations Center · ICT Module 4 · Kim Sung-hyun 2021271250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0744200" y="65836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ICT Module 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BEMS Anomaly Operations Center</dc:title>
  <dc:subject>PptxGenJS Presentation</dc:subject>
  <dc:creator>Kim Sung-hyun · 2021271250</dc:creator>
  <cp:lastModifiedBy>Kim Sung-hyun · 2021271250</cp:lastModifiedBy>
  <cp:revision>1</cp:revision>
  <dcterms:created xsi:type="dcterms:W3CDTF">2026-05-30T08:43:15Z</dcterms:created>
  <dcterms:modified xsi:type="dcterms:W3CDTF">2026-05-30T08:43:15Z</dcterms:modified>
</cp:coreProperties>
</file>