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502920" y="640080"/>
            <a:ext cx="502920" cy="5029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713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6C4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· Operations Console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Building Energy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Detection &amp; Response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4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6-stage agent pipeline · multi-zone telemetry · ML recovery · rule-engine diagnostics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4754880"/>
            <a:ext cx="4572000" cy="1463040"/>
          </a:xfrm>
          <a:prstGeom prst="rect">
            <a:avLst/>
          </a:prstGeom>
          <a:solidFill>
            <a:srgbClr val="1A2A5E"/>
          </a:solidFill>
          <a:ln w="12700">
            <a:solidFill>
              <a:srgbClr val="1F5D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920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6C4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ICT Module 4 · Intermediate Project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Kim Sung-hyun  · 2021271250
</a:t>
            </a:r>
            <a:pPr indent="0" marL="0">
              <a:buNone/>
            </a:pPr>
            <a:r>
              <a:rPr lang="en-US" sz="1200" dirty="0">
                <a:solidFill>
                  <a:srgbClr val="B6C4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4937760"/>
            <a:ext cx="1481328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9377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4937760"/>
            <a:ext cx="978408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49377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79992" y="4937760"/>
            <a:ext cx="877824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493776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67544" y="4937760"/>
            <a:ext cx="1481328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67544" y="49377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5440680"/>
            <a:ext cx="1179576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44068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0104" y="5440680"/>
            <a:ext cx="877824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0104" y="544068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77656" y="5440680"/>
            <a:ext cx="877824" cy="365760"/>
          </a:xfrm>
          <a:prstGeom prst="rect">
            <a:avLst/>
          </a:prstGeom>
          <a:solidFill>
            <a:srgbClr val="1A2A5E"/>
          </a:solidFill>
          <a:ln w="9525">
            <a:solidFill>
              <a:srgbClr val="1F5D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77656" y="544068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· Spring Semester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We'll walk through how the system works and what each component does, in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4884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148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22219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52728" y="2478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definition and approach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2608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926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2728" y="2999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Six-Stage Agent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0332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703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2728" y="3776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4032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Libraries used and code stats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48056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8056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480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52728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1·2  Data 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52728" y="4809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 + Transmitter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25780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25780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257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52728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  Collector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52728" y="5586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SQLite hub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214884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214884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148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3448" y="22219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  ML Processor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13448" y="2478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Interpolation + 3-detector ensemble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92608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292608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926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3448" y="2999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5  Decision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13448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rule engine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70332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370332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703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3448" y="3776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6  Dashboard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4032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operations console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448056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63640" y="448056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4480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13448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13448" y="4809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can do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5257800"/>
            <a:ext cx="5394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5257800"/>
            <a:ext cx="54864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5257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13448" y="5330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+ Future Work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13448" y="5586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and next steps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· 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Building Energy Anomaly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problem matters, and how it is solved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73152" cy="4023360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building's IoT sensor network suffers from wireless interference, inter-floor signal attenuation, and congestion.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 Loss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027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vanishes in transit, leaving gaps in the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9502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Delay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WiFi congestion causes irregular 0.5–3 s delays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5171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Noise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736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interference adds Gaussian noise to readings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5084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084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Missed Anomalies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5303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Fire, HVAC failure, etc. escalate before the operator notices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103120"/>
            <a:ext cx="73152" cy="402336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six-stage agent pipeline — deliberately inject network degradation, recover with ML, diagnose with a rule engine.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6027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 interpolation fills dropped sequences for a gapless series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9502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Z-score · hard threshold · IsolationForest — a 3-detector ensemble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45171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4736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the fired-sensor pattern to 9 rules to infer root cause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5084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5084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5303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console — 6-tab operations view with scenario injection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·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Six-Stage Agent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is an independent process; they communicate only over REST.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331720"/>
            <a:ext cx="1691640" cy="109728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simulation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04825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2331720"/>
            <a:ext cx="1691640" cy="109728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8600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degradation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01421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2331720"/>
            <a:ext cx="1691640" cy="109728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5196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hub +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98017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331720"/>
            <a:ext cx="1691640" cy="109728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Processor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Interpolate + detect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94613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2331720"/>
            <a:ext cx="1691640" cy="109728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⑤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18388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8388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Rule-engine diagnosis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912096" y="2926080"/>
            <a:ext cx="201168" cy="182880"/>
          </a:xfrm>
          <a:prstGeom prst="rtTriangle">
            <a:avLst/>
          </a:prstGeom>
          <a:solidFill>
            <a:srgbClr val="4252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49840" y="2331720"/>
            <a:ext cx="1691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149840" y="2331720"/>
            <a:ext cx="1691640" cy="109728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2496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⑥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014984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49840" y="33192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console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069080"/>
            <a:ext cx="3657600" cy="310896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069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 GENERATION  &amp;  TRANSPORT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51960" y="4069080"/>
            <a:ext cx="3657600" cy="310896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51960" y="4069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 &amp;  PROCESSING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83880" y="4069080"/>
            <a:ext cx="3657600" cy="310896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4069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 &amp;  PRESENTATION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5029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Principles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5440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43000" y="544068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comms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43000" y="5715000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Loose coupling — agents can be swapped or distributed individually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12920" y="5440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678680" y="544068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persistence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678680" y="5715000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 mode for concurrent read/write · data survives restart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48600" y="5440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214360" y="544068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worker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14360" y="5715000"/>
            <a:ext cx="312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pushes every 1 s — no dependence on dashboard polling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· 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Code Stats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pure rule-engine implementation — no external LLM dependency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69494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649224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700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670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Python with type hints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12724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72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comms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172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httpx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172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· auto OpenAPI docs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63016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758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(WAL)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6758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 · concurrent read/write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13308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78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/ 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4178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· pandas · scikit-learn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4178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window · IsolationForest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463600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81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+ Plotly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4681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refresh · interactive charts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513892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1846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5184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5184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cases · incl. deadlock regression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5641848"/>
            <a:ext cx="6492240" cy="4572"/>
          </a:xfrm>
          <a:prstGeom prst="rect">
            <a:avLst/>
          </a:prstGeom>
          <a:solidFill>
            <a:srgbClr val="F1F2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6875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40280" y="5687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6280" y="5687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26680" y="21031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26680" y="2103120"/>
            <a:ext cx="73152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2,792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4183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26680" y="27889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26680" y="2788920"/>
            <a:ext cx="73152" cy="640080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41832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26680" y="34747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726680" y="3474720"/>
            <a:ext cx="73152" cy="6400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474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94183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26680" y="41605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726680" y="4160520"/>
            <a:ext cx="73152" cy="640080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4160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41832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Detectors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726680" y="48463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726680" y="4846320"/>
            <a:ext cx="73152" cy="64008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9418320" y="4846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Rules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26680" y="553212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726680" y="5532120"/>
            <a:ext cx="73152" cy="64008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5532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9418320" y="5532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 Cases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·  DATA  GENERATION  +  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· Generator   ▸   Stage 2 · Transmitter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 sensor data, then deliberately inject real-world network degradation.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3949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73152" cy="420624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src/agents/generator.py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Synthesizes 4-channel BEMS sensors for 3 zones every second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6908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(kW)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538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–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3538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 (°C)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3831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– 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30  /  &lt; 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23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Humidity (%)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4123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– 60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4123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75  /  &lt; 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416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CO₂ (ppm)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88920" y="44165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 – 800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4416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1200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7091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occupancy cycle (sin) + Gaussian noise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sample carries a ground-truth label (is_anomaly, scenario)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4% chance to auto-inject one of 5 scenarios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2103120"/>
            <a:ext cx="53949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2103120"/>
            <a:ext cx="73152" cy="420624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Transmitter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9516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src/agents/transmitter.py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Generator samples, deliberately degrades them, forwards to Collector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3246120"/>
            <a:ext cx="48920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32918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40880" y="33192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Transmission Delay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5570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 – 1.5 s random delay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40880" y="37764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WiFi congestion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4160520"/>
            <a:ext cx="48920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2062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40880" y="42336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 Drop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44714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Drops 10% of packets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40880" y="46908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inter-floor attenuation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37960" y="5074920"/>
            <a:ext cx="4892040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5120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040880" y="51480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Noise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53858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 noise × 1.2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40880" y="56052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EM interference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·  STAGE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 — FastAPI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entry point for all data, the persistent store, and the host of the background worker.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6400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· /docs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871216"/>
            <a:ext cx="647395" cy="237744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71216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Generator's clean sample (for evaluation)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182112"/>
            <a:ext cx="647395" cy="237744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82112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63040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/ingest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Transmitter's degraded packet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493008"/>
            <a:ext cx="647395" cy="237744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93008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scenario or custom sample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803904"/>
            <a:ext cx="647395" cy="237744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03904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630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 the operational store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4114800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14800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63040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Buffered readings + missing-seq list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4425696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25696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46304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/processed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ML-recovered + anomaly-flagged frame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736592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36592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46304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/decisions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700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+ diagnosis + action history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" y="5047488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47488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46304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83280" y="5010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Per-zone packet stats + worker state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" y="5358384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358384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6304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5321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Interpolation MAE + detection P/R/F1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5669280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669280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463040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/scenarios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83280" y="5632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Preset scenario library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" y="5980176"/>
            <a:ext cx="554126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5980176"/>
            <a:ext cx="554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46304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83280" y="5943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Liveness probe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78040" y="2103120"/>
            <a:ext cx="4480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78040" y="2103120"/>
            <a:ext cx="73152" cy="1965960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Store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0664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data/bems.sqlite3  ·  WAL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3524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680960" y="3035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Generator's original samples (ground truth)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0664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63524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680960" y="3419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Degraded data sent by the Transmitter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63524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68096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· diagnosis · action results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040" y="4206240"/>
            <a:ext cx="4480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178040" y="4206240"/>
            <a:ext cx="73152" cy="2103120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4297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Worker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4066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 interval · push-based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406640" y="48920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Stages 4 + 5 on a background thread. Decisions keep being made and persisted to the DB even when the dashboard is closed.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Processes only new readings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error, records last_error and keeps running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Shares the store safely via a dedicated lock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·  STAGE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Processor — Interpolation + 3-Detector Ensemble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 the data that was lost, then catch anomalies in what remains.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11155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Reindex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missing seq rows with NaN to make it continuous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E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Interpolate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NaN values via linear interpolation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E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3 detectors in parallel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E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7824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22677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2560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OR Z-score OR IForest → anomaly_any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83280"/>
            <a:ext cx="3535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383280"/>
            <a:ext cx="353568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474720"/>
            <a:ext cx="365760" cy="365760"/>
          </a:xfrm>
          <a:prstGeom prst="ellipse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4747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Z-score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675888"/>
            <a:ext cx="275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· univariate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06908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Estimates σ robustly via MAD (median absolute deviation). Flags when |z| &gt; 2.5.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5166360"/>
            <a:ext cx="30784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548640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Fast, computed per window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single outlier won't poison the statistics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12920" y="3383280"/>
            <a:ext cx="3535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12920" y="3383280"/>
            <a:ext cx="3535680" cy="502920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1520" y="3474720"/>
            <a:ext cx="365760" cy="365760"/>
          </a:xfrm>
          <a:prstGeom prst="ellipse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98720" y="34747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Threshold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98720" y="3675888"/>
            <a:ext cx="275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Physical-spec based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41520" y="406908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compares against hard limits from the sensor spec (e.g. power &gt; 8 kW, temp &gt; 30°C).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41520" y="5166360"/>
            <a:ext cx="30784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152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41520" y="548640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Explainable, the domain rule as-is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basis for Critical severity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22920" y="3383280"/>
            <a:ext cx="3535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22920" y="3383280"/>
            <a:ext cx="3535680" cy="502920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51520" y="3474720"/>
            <a:ext cx="365760" cy="365760"/>
          </a:xfrm>
          <a:prstGeom prst="ellipse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808720" y="34747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IsolationForest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08720" y="3675888"/>
            <a:ext cx="275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Multivariate · ML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51520" y="4069080"/>
            <a:ext cx="312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 IsolationForest, contamination=0.05. Flags abnormal multi-sensor patterns.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51520" y="5166360"/>
            <a:ext cx="30784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5152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51520" y="548640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Catches patterns no single sensor can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n_estimators=80 · trained per zone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·  STAGE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— Deterministic Rule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which sensors fired in which direction to infer the root cause.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11155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CLASSIFICATION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542032"/>
            <a:ext cx="1097280" cy="38404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54203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trigger fired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542032"/>
            <a:ext cx="1097280" cy="384048"/>
          </a:xfrm>
          <a:prstGeom prst="rect">
            <a:avLst/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920" y="2542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19928" y="254203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Z-score or IForest fired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48600" y="2542032"/>
            <a:ext cx="1097280" cy="384048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8600" y="25420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5608" y="2542032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Hard-limit breach  or  |z| &gt; 4.0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111556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37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  ·  9 rules, matched top-down, first match wins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4884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SIGNALS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2628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FORBIDDEN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73252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3931920"/>
            <a:ext cx="1060704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23360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fire_risk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4023360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temp↑ + co2↑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26280" y="4023360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humidity↑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89320" y="4023360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Possible fire / thermal event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732520" y="4023360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smoke detectors, dispatch inspection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4251960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56532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hvac_failure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4256532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temp↑ + humidity↑ + co2↑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26280" y="4256532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89320" y="4256532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HVAC cooling failure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732520" y="4256532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chiller, switch to backup AHU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4485132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489704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peak_load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48840" y="4489704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power↑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26280" y="4489704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temp↑, co2↑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89320" y="4489704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power load event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732520" y="4489704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high-consumption circuit, load shed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7240" y="4718304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4722876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cold_snap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148840" y="4722876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temp↓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26280" y="4722876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89320" y="4722876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Heating loss / open vent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732520" y="4722876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heating loop, inspect doors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77240" y="4951476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956048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occupancy_spike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148840" y="4956048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co2↑ + humidity↑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26280" y="4956048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power↑, temp↑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89320" y="4956048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Occupancy spike / under-ventilation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732520" y="4956048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outdoor-air damper set-point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77240" y="5184648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5189220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humidity_anomaly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48840" y="5189220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humidity↑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26280" y="5189220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89320" y="5189220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Humidity anomaly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732520" y="5189220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dehumidifier, water ingress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77240" y="5417820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5422392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low_humidity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148840" y="5422392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humidity↓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26280" y="5422392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989320" y="5422392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humidity / dry air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732520" y="5422392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 humidifier, check steam pressure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77240" y="5650992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5655564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co2_only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148840" y="5655564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co2↑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526280" y="5655564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89320" y="5655564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Elevated CO₂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732520" y="5655564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outdoor-air intake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77240" y="5884164"/>
            <a:ext cx="10607040" cy="3658"/>
          </a:xfrm>
          <a:prstGeom prst="rect">
            <a:avLst/>
          </a:prstGeom>
          <a:solidFill>
            <a:srgbClr val="F4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5888736"/>
            <a:ext cx="1371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temperature_only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148840" y="5888736"/>
            <a:ext cx="2377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temp↑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526280" y="5888736"/>
            <a:ext cx="14630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989320" y="5888736"/>
            <a:ext cx="27432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 drift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732520" y="5888736"/>
            <a:ext cx="31089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set-point, inspect VAV box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·  STAGE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Enterprise Operations Console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six-tab Streamlit console that visualizes live data and accepts user input.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359664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12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health board · 6 service states · decision timeline · per-zone cards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2440" y="210312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2440" y="2103120"/>
            <a:ext cx="359664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5320" y="2212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2520" y="219456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1040" y="278892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selector · 4-sensor live charts · raw vs interpolated · anomaly overlays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1960" y="210312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1960" y="2103120"/>
            <a:ext cx="3596640" cy="502920"/>
          </a:xfrm>
          <a:prstGeom prst="rect">
            <a:avLst/>
          </a:prstGeom>
          <a:solidFill>
            <a:srgbClr val="EDE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4840" y="2212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02040" y="219456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90560" y="278892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6-agent topology · each agent's status / KPIs / role / source 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251960"/>
            <a:ext cx="3596640" cy="502920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34340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93776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· zone filters · diagnosis/action/evidence columns · CSV export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82440" y="425196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82440" y="4251960"/>
            <a:ext cx="3596640" cy="502920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5320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22520" y="434340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Lab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11040" y="493776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inject of 5 presets · custom sensor-value form · recent injections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61960" y="4251960"/>
            <a:ext cx="35966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61960" y="4251960"/>
            <a:ext cx="3596640" cy="502920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4840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02040" y="434340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Metrics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90560" y="4937760"/>
            <a:ext cx="3185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Interpolation MAE table · 4-detector P/R/F1 table · F1 comparison bars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 &amp;  Alerts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screens operators use to monitor the system and act on alerts.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0312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194560"/>
            <a:ext cx="5212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67712"/>
            <a:ext cx="256032" cy="256032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· Anomaly Operations Center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286000"/>
            <a:ext cx="833933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286000"/>
            <a:ext cx="8339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697480"/>
            <a:ext cx="5212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24912"/>
            <a:ext cx="853440" cy="237744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9352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4696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5384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0728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4782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82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4782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164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64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3164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546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1546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928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928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9928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31080" y="3108960"/>
            <a:ext cx="7924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1080" y="3154680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831080" y="3337560"/>
            <a:ext cx="79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Services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416052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160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417880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178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0080" y="443484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434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Transmitter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445312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40080" y="470916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709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72744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727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40080" y="498348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983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Processor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500176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5001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40080" y="525780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5257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527608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5276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40080" y="5532120"/>
            <a:ext cx="512064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E1E4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532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5550408"/>
            <a:ext cx="1005840" cy="201168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5550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#1  —  Operations View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63640" y="210312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355080" y="2194560"/>
            <a:ext cx="5212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46520" y="2267712"/>
            <a:ext cx="256032" cy="256032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4652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766560" y="2267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· Anomaly Operations Center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561320" y="2286000"/>
            <a:ext cx="833933" cy="237744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561320" y="2286000"/>
            <a:ext cx="8339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OK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355080" y="2697480"/>
            <a:ext cx="5212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5424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0768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961120" y="2724912"/>
            <a:ext cx="853440" cy="237744"/>
          </a:xfrm>
          <a:prstGeom prst="rect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6112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81456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668000" y="2724912"/>
            <a:ext cx="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26364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#4  —  Alerts Feed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00800" y="3108960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00800" y="3108960"/>
            <a:ext cx="45720" cy="621792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10528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14:23:05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510528" y="3337560"/>
            <a:ext cx="822960" cy="201168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10528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510528" y="3547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Zone-A · seq 33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589520" y="31638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Possible fire / thermal event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589520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Verify smoke detectors; dispatch on-site inspection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400800" y="3785616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00800" y="3785616"/>
            <a:ext cx="45720" cy="621792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10528" y="3822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14:23:04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510528" y="4014216"/>
            <a:ext cx="822960" cy="201168"/>
          </a:xfrm>
          <a:prstGeom prst="rect">
            <a:avLst/>
          </a:prstGeom>
          <a:solidFill>
            <a:srgbClr val="FD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10528" y="4014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12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510528" y="4224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Zone-B · seq 28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589520" y="38404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HVAC cooling failure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589520" y="40599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Inspect chiller, switch to backup AHU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400800" y="4462272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400800" y="4462272"/>
            <a:ext cx="45720" cy="621792"/>
          </a:xfrm>
          <a:prstGeom prst="rect">
            <a:avLst/>
          </a:prstGeom>
          <a:solidFill>
            <a:srgbClr val="9A5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10528" y="4498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14:23:03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10528" y="4690872"/>
            <a:ext cx="822960" cy="201168"/>
          </a:xfrm>
          <a:prstGeom prst="rect">
            <a:avLst/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10528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510528" y="4901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Zone-C · seq 44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589520" y="45171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Occupancy spike / under-ventilation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589520" y="47365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Raise outdoor-air damper set-point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400800" y="5138928"/>
            <a:ext cx="5120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00800" y="5138928"/>
            <a:ext cx="45720" cy="621792"/>
          </a:xfrm>
          <a:prstGeom prst="rect">
            <a:avLst/>
          </a:prstGeom>
          <a:solidFill>
            <a:srgbClr val="9A5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10528" y="51755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14:23:02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510528" y="5367528"/>
            <a:ext cx="822960" cy="201168"/>
          </a:xfrm>
          <a:prstGeom prst="rect">
            <a:avLst/>
          </a:prstGeom>
          <a:solidFill>
            <a:srgbClr val="FFF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10528" y="5367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9A5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510528" y="55778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Zone-A · seq 31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589520" y="5193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 drift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589520" y="5413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Verify set-point, inspect VAV box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Lab  &amp;  Quality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 scenarios yourself and evaluate system quality quantitatively.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#5  —  Scenario Lab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67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Lab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Fault Injection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synthetic samples into the pipeline to validate runbooks. Injected samples are labelled as ground-truth anomalies.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47472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29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fire_risk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675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 Risk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54787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hvac_failure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80160" y="4178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HVAC Failure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405079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50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48056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80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535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peak_load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80160" y="4681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Power Load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55371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98348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83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5038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cold_snap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80160" y="5184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 Snap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505663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5056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5486400"/>
            <a:ext cx="50292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486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0160" y="5541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occupancy_spike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80160" y="5687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Occupancy Spike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5559552"/>
            <a:ext cx="914400" cy="2743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5559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1828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#6  —  Quality Metrics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2103120"/>
            <a:ext cx="53949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46520" y="2267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Metrics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4652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against ground-truth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652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Interpolation MAE  ·  recovered seqs only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00100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73252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446520" y="3410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01000" y="34107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32520" y="34107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46520" y="36667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01000" y="36667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°C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32520" y="36667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39227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humidity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01000" y="39227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32520" y="39227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46520" y="4178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co2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00100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732520" y="41788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11.8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46520" y="4617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F1  ·  vs ground-truth labels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46520" y="4892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26680" y="493776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4937760"/>
            <a:ext cx="2370125" cy="146304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64240" y="4892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46520" y="5166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hard_threshold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726680" y="521208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26680" y="5212080"/>
            <a:ext cx="2995574" cy="146304"/>
          </a:xfrm>
          <a:prstGeom prst="rect">
            <a:avLst/>
          </a:prstGeom>
          <a:solidFill>
            <a:srgbClr val="A127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064240" y="5166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46520" y="5440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iforest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726680" y="548640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5486400"/>
            <a:ext cx="2238451" cy="146304"/>
          </a:xfrm>
          <a:prstGeom prst="rect">
            <a:avLst/>
          </a:prstGeom>
          <a:solidFill>
            <a:srgbClr val="6A4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64240" y="5440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46520" y="5715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726680" y="5760720"/>
            <a:ext cx="329184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26680" y="5760720"/>
            <a:ext cx="3094330" cy="146304"/>
          </a:xfrm>
          <a:prstGeom prst="rect">
            <a:avLst/>
          </a:prstGeom>
          <a:solidFill>
            <a:srgbClr val="1F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064240" y="57150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 · 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things a user can actually 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973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4884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532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4-sensor data across 3 zones on 1-second live charts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Packet-loss recovery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532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Auto-interpolate the 10% dropped sequences to remove gaps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Multi-detector comparison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538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Z-score · hard threshold · IsolationForest together and compare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15468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33756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root-cause inference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3538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9 rules to diagnose the event type and output a recommended action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34340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🧪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injection testing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544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5 presets (fire/HVAC/peak/cold/occupancy), or enter custom values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16052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434340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quality evaluation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4544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interpolation MAE and each detector's P/R/F1 against ground truth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534924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📤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export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5550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the filtered alert list as CSV (operations report)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516636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B3D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46520" y="5349240"/>
            <a:ext cx="502920" cy="502920"/>
          </a:xfrm>
          <a:prstGeom prst="ellipse">
            <a:avLst/>
          </a:prstGeom>
          <a:solidFill>
            <a:srgbClr val="E8F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08660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persistence &amp; reset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86600" y="5550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2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keeps history across restarts; one-click reset in the sidebar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E1E4E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4420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6C4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 · 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Achievements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349240" cy="3840480"/>
          </a:xfrm>
          <a:prstGeom prst="rect">
            <a:avLst/>
          </a:prstGeom>
          <a:solidFill>
            <a:srgbClr val="1A2A5E"/>
          </a:solidFill>
          <a:ln w="12700">
            <a:solidFill>
              <a:srgbClr val="1F5D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5D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project achieved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9260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Six-stage agent pipeline — every stage an independent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2918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the series intact under 10% packet loss + 0.2–1.5 s delay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6576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3-detector ensemble catches both univariate and multivariate anomalies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9-rule engine — deterministic, auditable diagnosis (no black box)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3891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Enterprise-style 6-tab operations console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754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pytest cases — including a deadlock regression 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206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P/R/F1 evaluation against ground-truth labels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5349240" cy="3840480"/>
          </a:xfrm>
          <a:prstGeom prst="rect">
            <a:avLst/>
          </a:prstGeom>
          <a:solidFill>
            <a:srgbClr val="1A2A5E"/>
          </a:solidFill>
          <a:ln w="12700">
            <a:solidFill>
              <a:srgbClr val="6A4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goes next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29400" y="29260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9260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distributions to the real ASHRAE dataset (currently a sin approximation)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2918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2918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time-series model — compare LSTM/AR against IsolationForest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36576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6576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push over WebSocket (currently polling)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40233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Multi-site expansion and role separation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43891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438912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delivery channels — Slack / email / pager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47548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4754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Grafana / Prometheus metrics export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51206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51206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authentication (/ingest is currently open)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solidFill>
            <a:srgbClr val="1F5D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Q &amp; 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BEMS Anomaly Operations Center · ICT Module 4 · Kim Sung-hyun 2021271250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442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ICT Module 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BEMS Anomaly Operations Center</dc:title>
  <dc:subject>PptxGenJS Presentation</dc:subject>
  <dc:creator>Kim Sung-hyun · 2021271250</dc:creator>
  <cp:lastModifiedBy>Kim Sung-hyun · 2021271250</cp:lastModifiedBy>
  <cp:revision>1</cp:revision>
  <dcterms:created xsi:type="dcterms:W3CDTF">2026-05-30T08:46:36Z</dcterms:created>
  <dcterms:modified xsi:type="dcterms:W3CDTF">2026-05-30T08:46:36Z</dcterms:modified>
</cp:coreProperties>
</file>